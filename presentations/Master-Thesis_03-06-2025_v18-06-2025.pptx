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86" r:id="rId3"/>
    <p:sldId id="271" r:id="rId4"/>
    <p:sldId id="272" r:id="rId5"/>
    <p:sldId id="280" r:id="rId6"/>
    <p:sldId id="270" r:id="rId7"/>
    <p:sldId id="278" r:id="rId8"/>
    <p:sldId id="277" r:id="rId9"/>
    <p:sldId id="276" r:id="rId10"/>
    <p:sldId id="291" r:id="rId11"/>
    <p:sldId id="279" r:id="rId12"/>
    <p:sldId id="281" r:id="rId13"/>
    <p:sldId id="282" r:id="rId14"/>
    <p:sldId id="283" r:id="rId15"/>
    <p:sldId id="284" r:id="rId16"/>
    <p:sldId id="285" r:id="rId17"/>
    <p:sldId id="287" r:id="rId18"/>
    <p:sldId id="288" r:id="rId19"/>
    <p:sldId id="289" r:id="rId20"/>
    <p:sldId id="290" r:id="rId21"/>
    <p:sldId id="268" r:id="rId22"/>
    <p:sldId id="274" r:id="rId23"/>
    <p:sldId id="275" r:id="rId24"/>
    <p:sldId id="292" r:id="rId25"/>
    <p:sldId id="293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6CA85-CC7E-40BF-B369-DBE14C881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28208-03FF-4A97-957F-2FEFE9109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08BD1-CD37-4C68-A500-E51A76F4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DFB2A-AB3D-4D3B-87B3-BC652188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48025-5D4B-48F6-84AC-87EC655B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39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AEFD6-652F-4CD7-B2DC-D24F0ECA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D4872-9DE7-4D24-9C9A-2A377E3D9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CD7F5-C7E4-4EA6-93B5-955D6417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66B6C-AD05-4F4E-A65A-5CF6742F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C9E82-B176-4E6A-AFD5-5AB8AFCC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43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29BA-A6B0-4DB8-9D19-DB8C3204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05A5B-BBE9-4401-8A81-1E427308E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00CC5-5C2C-4E31-B717-5669FD075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4AC45-BC83-4B93-97B1-55EC8190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5CAB2-1F39-4FA9-9FBC-BF9BBC72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52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C925-EFFD-4B1C-AAD5-848FE280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D86D9-C524-410B-A064-318BC3A80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4679-69EF-4273-80C4-691475466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C129D-D4EA-4945-8E81-77AAB135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7091C-CEEB-425A-B659-EDF2CBF9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C5EC0-B9E5-43C8-8DF0-C7362EED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31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0463-451E-4D79-8EA0-EB2A51E7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9A031-CF24-4CA9-B623-4195E5BD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75B39-8425-40DE-A165-32D877CC1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C970F-4518-4C65-8B92-6FCFDE595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427DF-1D12-46F0-8D93-FB994F360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0AFA0-017D-40E3-A8BF-CA0035CA5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267A1B-9074-4D8D-B67D-4FD0AF25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591FA-C01D-4CBF-9A8A-2B7D6B88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05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5BE9-B2EB-4466-8168-317E6979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18014-86A9-4A9E-B623-31460C35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B834F-AEDB-4211-B6DE-4CED3F75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072C6-F53C-453A-AEF2-20111E75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93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09A40-6B6A-426E-B7FD-14BDDCA9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F420D-09C0-4BDC-9F96-E50C4725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BBA05-2984-4B16-8E79-583851DC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141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8991B-32C0-41FA-8938-7EA83AF1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75BF-FC79-487A-8D5D-B72490C17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ACB5D-9320-4D46-BB7C-89DA30517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58C2B-C0D9-4AD8-9053-5C42F4B7D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E5523-33D3-41CB-89BD-F99C7428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139D8-8BE8-4DB0-9A37-9A9B9680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5682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995-F007-475E-8739-A93F5707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B402D-46A2-406D-B6AF-B0BD6E23C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E9D4C-A816-4F6A-BAA3-8E4FB50B9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CF128-5448-44FE-BF99-2CD9E7CA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7A825-C823-4ADA-9353-C13F69BB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4236B-A7D4-44D8-A771-A32F176F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863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2CF1-AA18-4B2A-A59A-088FE220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6784A-9B89-48F6-9213-B641C634E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51549-6D7F-4522-B6D9-E0B71EE8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F09D6-A607-498D-A76C-281E1ACE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1C86C-0D9A-43B1-9850-86B10018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81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F3076-F497-4E3F-8321-2B886DA60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214D7-C9AE-4B01-B5E4-6CC0CC828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45C69-656D-49F1-A810-45A8FB52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40860-FC53-47B2-B442-1398DBE3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768E6-897B-46CC-93BC-2C43A92E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482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_Standard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PPT_Background_16zu9_RGB_NEU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875"/>
            <a:ext cx="11663680" cy="4356608"/>
          </a:xfrm>
          <a:prstGeom prst="rect">
            <a:avLst/>
          </a:prstGeom>
        </p:spPr>
      </p:pic>
      <p:sp>
        <p:nvSpPr>
          <p:cNvPr id="21" name="Textfeld 20"/>
          <p:cNvSpPr txBox="1"/>
          <p:nvPr userDrawn="1"/>
        </p:nvSpPr>
        <p:spPr>
          <a:xfrm>
            <a:off x="4832469" y="2264793"/>
            <a:ext cx="7359531" cy="2678579"/>
          </a:xfrm>
          <a:prstGeom prst="rect">
            <a:avLst/>
          </a:prstGeom>
          <a:solidFill>
            <a:srgbClr val="4D8AD2"/>
          </a:solid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252000" tIns="234000" rIns="648000" bIns="45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ts val="1200"/>
              </a:lnSpc>
              <a:spcAft>
                <a:spcPts val="600"/>
              </a:spcAft>
            </a:pPr>
            <a:endParaRPr lang="de-DE" sz="2800" dirty="0">
              <a:solidFill>
                <a:srgbClr val="FFFFFF"/>
              </a:solidFill>
              <a:effectLst/>
              <a:latin typeface="Calibri"/>
              <a:ea typeface="ＭＳ 明朝"/>
              <a:cs typeface="Calibri"/>
            </a:endParaRPr>
          </a:p>
        </p:txBody>
      </p:sp>
      <p:cxnSp>
        <p:nvCxnSpPr>
          <p:cNvPr id="23" name="Gerade Verbindung 22"/>
          <p:cNvCxnSpPr/>
          <p:nvPr userDrawn="1"/>
        </p:nvCxnSpPr>
        <p:spPr>
          <a:xfrm>
            <a:off x="5246520" y="2015662"/>
            <a:ext cx="0" cy="316041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 userDrawn="1"/>
        </p:nvCxnSpPr>
        <p:spPr>
          <a:xfrm>
            <a:off x="11252979" y="2009672"/>
            <a:ext cx="0" cy="316640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Rechteck 14"/>
          <p:cNvSpPr/>
          <p:nvPr userDrawn="1"/>
        </p:nvSpPr>
        <p:spPr>
          <a:xfrm>
            <a:off x="3294136" y="6176547"/>
            <a:ext cx="1677635" cy="681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1" name="Rechteck 10"/>
          <p:cNvSpPr/>
          <p:nvPr userDrawn="1"/>
        </p:nvSpPr>
        <p:spPr>
          <a:xfrm>
            <a:off x="119532" y="6290237"/>
            <a:ext cx="11545089" cy="567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>
          <a:xfrm>
            <a:off x="5246521" y="2267308"/>
            <a:ext cx="6006459" cy="1687127"/>
          </a:xfrm>
        </p:spPr>
        <p:txBody>
          <a:bodyPr lIns="252000" tIns="108000" rIns="252000" bIns="108000" anchor="t" anchorCtr="0">
            <a:noAutofit/>
          </a:bodyPr>
          <a:lstStyle>
            <a:lvl1pPr algn="l">
              <a:defRPr sz="2200" b="1" i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 bearbeiten</a:t>
            </a:r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4"/>
          </p:nvPr>
        </p:nvSpPr>
        <p:spPr>
          <a:xfrm>
            <a:off x="5247219" y="3954433"/>
            <a:ext cx="6004983" cy="988936"/>
          </a:xfrm>
        </p:spPr>
        <p:txBody>
          <a:bodyPr lIns="252000" tIns="108000" rIns="252000" bIns="144000" anchor="b" anchorCtr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rgbClr val="FFFFFF"/>
                </a:solidFill>
              </a:defRPr>
            </a:lvl2pPr>
            <a:lvl3pPr marL="914378" indent="0">
              <a:buNone/>
              <a:defRPr>
                <a:solidFill>
                  <a:srgbClr val="FFFFFF"/>
                </a:solidFill>
              </a:defRPr>
            </a:lvl3pPr>
            <a:lvl4pPr marL="1371566" indent="0">
              <a:buNone/>
              <a:defRPr>
                <a:solidFill>
                  <a:srgbClr val="FFFFFF"/>
                </a:solidFill>
              </a:defRPr>
            </a:lvl4pPr>
            <a:lvl5pPr marL="1828754" indent="0"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98652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Lorem ipsum dolor sit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3"/>
          </p:nvPr>
        </p:nvSpPr>
        <p:spPr>
          <a:xfrm>
            <a:off x="609600" y="1412777"/>
            <a:ext cx="5177227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sz="quarter" idx="14"/>
          </p:nvPr>
        </p:nvSpPr>
        <p:spPr>
          <a:xfrm>
            <a:off x="6106834" y="1412777"/>
            <a:ext cx="5147628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09600" y="918943"/>
            <a:ext cx="10644861" cy="6093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920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62C44-30F8-4B1F-961D-49A4A1C38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F8FF4-1235-4AE1-B9CC-6A28F88AB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15BF-71F0-4ABF-91B1-F2E6C6BC5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29BDB-D14B-4568-B30D-B797940BC43D}" type="datetimeFigureOut">
              <a:rPr lang="de-DE" smtClean="0"/>
              <a:t>17.06.2025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ACC09-78F0-41AF-80EE-C2ACB7178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D1A36-CB30-4DBE-B8D2-082363388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338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farm.de/SharedDocs/Downloads/DE/Kodiersysteme/klassifikationen/ops/version2025/ops2025syst-meta_zip.html?cms_calledFromDoc=841246&amp;cms_dlConfirm=true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kulethirajanT/CORE/tree/class1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Master Thesis: CORE Pipeline Updates</a:t>
            </a:r>
            <a:br>
              <a:rPr lang="de-DE" dirty="0"/>
            </a:br>
            <a:br>
              <a:rPr lang="de-DE" dirty="0"/>
            </a:br>
            <a:r>
              <a:rPr lang="de-DE" dirty="0"/>
              <a:t>BACKEND-SEED DATABASE PROGRESS</a:t>
            </a:r>
            <a:br>
              <a:rPr lang="de-DE" dirty="0"/>
            </a:b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5459999" y="3678295"/>
            <a:ext cx="4503737" cy="741702"/>
          </a:xfrm>
        </p:spPr>
        <p:txBody>
          <a:bodyPr/>
          <a:lstStyle/>
          <a:p>
            <a:r>
              <a:rPr lang="de-DE" dirty="0"/>
              <a:t>Gokul Thothathri 03.06.2025</a:t>
            </a:r>
          </a:p>
        </p:txBody>
      </p:sp>
    </p:spTree>
    <p:extLst>
      <p:ext uri="{BB962C8B-B14F-4D97-AF65-F5344CB8AC3E}">
        <p14:creationId xmlns:p14="http://schemas.microsoft.com/office/powerpoint/2010/main" val="391611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</a:t>
            </a:fld>
            <a:endParaRPr 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770CD-F170-40EF-BFD9-CA8BA69097FD}"/>
              </a:ext>
            </a:extLst>
          </p:cNvPr>
          <p:cNvSpPr/>
          <p:nvPr/>
        </p:nvSpPr>
        <p:spPr>
          <a:xfrm>
            <a:off x="282804" y="2411311"/>
            <a:ext cx="118212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PostgreSQL Data Seeder for FDZ Database Simulation (FDZ/DM3)</a:t>
            </a:r>
            <a:endParaRPr lang="de-DE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64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3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927961" y="136525"/>
            <a:ext cx="9370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solidFill>
                  <a:schemeClr val="accent1"/>
                </a:solidFill>
              </a:rPr>
              <a:t>Simulating</a:t>
            </a:r>
            <a:r>
              <a:rPr lang="de-DE" sz="2400" b="1" dirty="0">
                <a:solidFill>
                  <a:schemeClr val="accent1"/>
                </a:solidFill>
              </a:rPr>
              <a:t> OPS (Classification </a:t>
            </a:r>
            <a:r>
              <a:rPr lang="de-DE" sz="2400" b="1" dirty="0" err="1">
                <a:solidFill>
                  <a:schemeClr val="accent1"/>
                </a:solidFill>
              </a:rPr>
              <a:t>of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Operations</a:t>
            </a:r>
            <a:r>
              <a:rPr lang="de-DE" sz="2400" b="1" dirty="0">
                <a:solidFill>
                  <a:schemeClr val="accent1"/>
                </a:solidFill>
              </a:rPr>
              <a:t> and </a:t>
            </a:r>
            <a:r>
              <a:rPr lang="de-DE" sz="2400" b="1" dirty="0" err="1">
                <a:solidFill>
                  <a:schemeClr val="accent1"/>
                </a:solidFill>
              </a:rPr>
              <a:t>Procedure</a:t>
            </a:r>
            <a:r>
              <a:rPr lang="de-DE" sz="2400" b="1" dirty="0">
                <a:solidFill>
                  <a:schemeClr val="accent1"/>
                </a:solidFill>
              </a:rPr>
              <a:t>) Codes via: </a:t>
            </a:r>
            <a:r>
              <a:rPr lang="de-DE" sz="2400" b="1" dirty="0">
                <a:solidFill>
                  <a:schemeClr val="accent1"/>
                </a:solidFill>
                <a:hlinkClick r:id="rId2"/>
              </a:rPr>
              <a:t>OPS Catalog (2025) – </a:t>
            </a:r>
            <a:r>
              <a:rPr lang="de-DE" sz="2400" b="1" dirty="0" err="1">
                <a:solidFill>
                  <a:schemeClr val="accent1"/>
                </a:solidFill>
                <a:hlinkClick r:id="rId2"/>
              </a:rPr>
              <a:t>Metadata</a:t>
            </a:r>
            <a:r>
              <a:rPr lang="de-DE" sz="2400" b="1" dirty="0">
                <a:solidFill>
                  <a:schemeClr val="accent1"/>
                </a:solidFill>
                <a:hlinkClick r:id="rId2"/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  <a:hlinkClick r:id="rId2"/>
              </a:rPr>
              <a:t>TableCSV</a:t>
            </a:r>
            <a:endParaRPr lang="de-DE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65BFB-E7AF-4A99-BBE0-6781B94DCBC7}"/>
              </a:ext>
            </a:extLst>
          </p:cNvPr>
          <p:cNvSpPr/>
          <p:nvPr/>
        </p:nvSpPr>
        <p:spPr>
          <a:xfrm>
            <a:off x="1080485" y="1117203"/>
            <a:ext cx="1003103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OPS Code Licence &amp; Catalogue Integration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pipeline</a:t>
            </a:r>
            <a:r>
              <a:rPr lang="de-DE" dirty="0"/>
              <a:t> via </a:t>
            </a:r>
            <a:r>
              <a:rPr lang="de-DE" b="1" dirty="0"/>
              <a:t>BfArM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“Operationen- und </a:t>
            </a:r>
            <a:r>
              <a:rPr lang="de-DE" dirty="0" err="1"/>
              <a:t>Prozedurenschlüssel</a:t>
            </a:r>
            <a:r>
              <a:rPr lang="de-DE" dirty="0"/>
              <a:t> (OPS)” </a:t>
            </a:r>
            <a:r>
              <a:rPr lang="de-DE" dirty="0" err="1"/>
              <a:t>under</a:t>
            </a:r>
            <a:r>
              <a:rPr lang="de-DE" dirty="0"/>
              <a:t> §301 SGB V </a:t>
            </a:r>
            <a:r>
              <a:rPr lang="de-DE" dirty="0" err="1"/>
              <a:t>catalog</a:t>
            </a:r>
            <a:br>
              <a:rPr lang="de-DE" dirty="0"/>
            </a:br>
            <a:endParaRPr lang="de-DE" dirty="0"/>
          </a:p>
          <a:p>
            <a:r>
              <a:rPr lang="de-DE" dirty="0">
                <a:solidFill>
                  <a:schemeClr val="accent1"/>
                </a:solidFill>
              </a:rPr>
              <a:t>Legal Status </a:t>
            </a:r>
            <a:br>
              <a:rPr lang="de-DE" dirty="0">
                <a:solidFill>
                  <a:schemeClr val="accent1"/>
                </a:solidFill>
              </a:rPr>
            </a:br>
            <a:endParaRPr lang="de-DE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 </a:t>
            </a:r>
            <a:r>
              <a:rPr lang="en-US" b="1" dirty="0"/>
              <a:t>OPS Codes is an „</a:t>
            </a:r>
            <a:r>
              <a:rPr lang="en-US" b="1" dirty="0" err="1"/>
              <a:t>anderes</a:t>
            </a:r>
            <a:r>
              <a:rPr lang="en-US" b="1" dirty="0"/>
              <a:t> </a:t>
            </a:r>
            <a:r>
              <a:rPr lang="en-US" b="1" dirty="0" err="1"/>
              <a:t>amtliches</a:t>
            </a:r>
            <a:r>
              <a:rPr lang="en-US" b="1" dirty="0"/>
              <a:t> </a:t>
            </a:r>
            <a:r>
              <a:rPr lang="en-US" b="1" dirty="0" err="1"/>
              <a:t>Werk</a:t>
            </a:r>
            <a:r>
              <a:rPr lang="en-US" b="1" dirty="0"/>
              <a:t>“ under § 5 (2) </a:t>
            </a:r>
            <a:r>
              <a:rPr lang="en-US" b="1" dirty="0" err="1"/>
              <a:t>UrhG</a:t>
            </a:r>
            <a:r>
              <a:rPr lang="en-US" b="1" dirty="0"/>
              <a:t> → no copyright fees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Each</a:t>
            </a:r>
            <a:r>
              <a:rPr lang="de-DE" dirty="0"/>
              <a:t> OPS </a:t>
            </a:r>
            <a:r>
              <a:rPr lang="de-DE" dirty="0" err="1"/>
              <a:t>represents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medical</a:t>
            </a:r>
            <a:r>
              <a:rPr lang="de-DE" dirty="0"/>
              <a:t> </a:t>
            </a:r>
            <a:r>
              <a:rPr lang="de-DE" dirty="0" err="1"/>
              <a:t>operation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clinical</a:t>
            </a:r>
            <a:r>
              <a:rPr lang="de-DE" dirty="0"/>
              <a:t> </a:t>
            </a:r>
            <a:r>
              <a:rPr lang="de-DE" dirty="0" err="1"/>
              <a:t>procedure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: </a:t>
            </a:r>
            <a:r>
              <a:rPr lang="de-DE" dirty="0" err="1"/>
              <a:t>surgeries</a:t>
            </a:r>
            <a:r>
              <a:rPr lang="de-DE" dirty="0"/>
              <a:t> (</a:t>
            </a:r>
            <a:r>
              <a:rPr lang="de-DE" dirty="0" err="1"/>
              <a:t>eg</a:t>
            </a:r>
            <a:r>
              <a:rPr lang="de-DE" dirty="0"/>
              <a:t>: </a:t>
            </a:r>
            <a:r>
              <a:rPr lang="de-DE" dirty="0" err="1"/>
              <a:t>appendectomy</a:t>
            </a:r>
            <a:r>
              <a:rPr lang="de-DE" dirty="0"/>
              <a:t>, hip </a:t>
            </a:r>
            <a:r>
              <a:rPr lang="de-DE" dirty="0" err="1"/>
              <a:t>replacement</a:t>
            </a:r>
            <a:r>
              <a:rPr lang="de-DE" dirty="0"/>
              <a:t>), Imaging (</a:t>
            </a:r>
            <a:r>
              <a:rPr lang="de-DE" dirty="0" err="1"/>
              <a:t>eg</a:t>
            </a:r>
            <a:r>
              <a:rPr lang="de-DE" dirty="0"/>
              <a:t>: MRI, CT Scans), </a:t>
            </a:r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Procedure</a:t>
            </a:r>
            <a:r>
              <a:rPr lang="de-DE" dirty="0"/>
              <a:t>(</a:t>
            </a:r>
            <a:r>
              <a:rPr lang="de-DE" dirty="0" err="1"/>
              <a:t>eg</a:t>
            </a:r>
            <a:r>
              <a:rPr lang="de-DE" dirty="0"/>
              <a:t>: </a:t>
            </a:r>
            <a:r>
              <a:rPr lang="de-DE" dirty="0" err="1"/>
              <a:t>colonoscopy</a:t>
            </a:r>
            <a:r>
              <a:rPr lang="de-DE" dirty="0"/>
              <a:t>), </a:t>
            </a:r>
            <a:r>
              <a:rPr lang="de-DE" dirty="0" err="1"/>
              <a:t>therapeutic</a:t>
            </a:r>
            <a:r>
              <a:rPr lang="de-DE" dirty="0"/>
              <a:t> </a:t>
            </a:r>
            <a:r>
              <a:rPr lang="de-DE" dirty="0" err="1"/>
              <a:t>interventions</a:t>
            </a:r>
            <a:r>
              <a:rPr lang="de-DE" dirty="0"/>
              <a:t> </a:t>
            </a:r>
            <a:r>
              <a:rPr lang="de-DE" dirty="0" err="1"/>
              <a:t>etc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Maintained and published by </a:t>
            </a:r>
            <a:r>
              <a:rPr lang="en-US" b="1" dirty="0" err="1"/>
              <a:t>BfArM</a:t>
            </a:r>
            <a:r>
              <a:rPr lang="en-US" dirty="0"/>
              <a:t> (Federal Institute for Drugs and Medical Devices)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3F6AE5-B6C5-4960-BE56-55B508E57026}"/>
              </a:ext>
            </a:extLst>
          </p:cNvPr>
          <p:cNvSpPr/>
          <p:nvPr/>
        </p:nvSpPr>
        <p:spPr>
          <a:xfrm>
            <a:off x="3953551" y="6506031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“OPS, machine-readable version, © </a:t>
            </a:r>
            <a:r>
              <a:rPr lang="en-US" sz="800" dirty="0" err="1"/>
              <a:t>BfArM</a:t>
            </a:r>
            <a:r>
              <a:rPr lang="en-US" sz="800" dirty="0"/>
              <a:t>, downloaded 19 May 2025.”</a:t>
            </a:r>
            <a:endParaRPr lang="de-DE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19133-B365-447F-94A5-879CF2517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643" y="4391151"/>
            <a:ext cx="6220693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9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Completion</a:t>
            </a:r>
            <a:r>
              <a:rPr lang="de-DE" sz="2400" b="1" dirty="0">
                <a:solidFill>
                  <a:schemeClr val="accent1"/>
                </a:solidFill>
              </a:rPr>
              <a:t> Status</a:t>
            </a:r>
            <a:endParaRPr lang="de-DE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8619BD-E1B8-4ADE-B7ED-322133FD6CC0}"/>
              </a:ext>
            </a:extLst>
          </p:cNvPr>
          <p:cNvSpPr/>
          <p:nvPr/>
        </p:nvSpPr>
        <p:spPr>
          <a:xfrm>
            <a:off x="783706" y="1140719"/>
            <a:ext cx="1003103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All 17 tables have been successfully implemented</a:t>
            </a:r>
            <a:r>
              <a:rPr lang="en-US" dirty="0"/>
              <a:t> in accordance with the </a:t>
            </a:r>
            <a:r>
              <a:rPr lang="en-US" dirty="0" err="1"/>
              <a:t>HealthDataLab</a:t>
            </a:r>
            <a:r>
              <a:rPr lang="en-US" dirty="0"/>
              <a:t> framework specifications. [</a:t>
            </a:r>
            <a:r>
              <a:rPr lang="en-US" dirty="0">
                <a:hlinkClick r:id="rId2"/>
              </a:rPr>
              <a:t>https://github.com/gokulethirajanT/CORE/tree/class1</a:t>
            </a:r>
            <a:r>
              <a:rPr lang="en-US" dirty="0"/>
              <a:t>]</a:t>
            </a:r>
            <a:r>
              <a:rPr lang="de-DE" b="1" dirty="0"/>
              <a:t>  </a:t>
            </a:r>
            <a:br>
              <a:rPr lang="de-DE" b="1" dirty="0"/>
            </a:b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All relational constraints</a:t>
            </a:r>
            <a:r>
              <a:rPr lang="en-US" dirty="0"/>
              <a:t> have been defined and enforced, including appropriate </a:t>
            </a:r>
            <a:r>
              <a:rPr lang="en-US" b="1" dirty="0"/>
              <a:t>primary key and foreign key relationships</a:t>
            </a:r>
            <a:r>
              <a:rPr lang="en-US" dirty="0"/>
              <a:t> to maintain referential integrity across the database schema.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Currently in progress</a:t>
            </a:r>
            <a:r>
              <a:rPr lang="en-US" dirty="0"/>
              <a:t> to fine-tune the </a:t>
            </a:r>
            <a:r>
              <a:rPr lang="en-US" b="1" dirty="0"/>
              <a:t>frequency distributions</a:t>
            </a:r>
            <a:r>
              <a:rPr lang="en-US" dirty="0"/>
              <a:t> within the synthetic seed dataset to better reflect </a:t>
            </a:r>
            <a:r>
              <a:rPr lang="en-US" b="1" dirty="0"/>
              <a:t>HIV-related epidemiological patterns</a:t>
            </a:r>
            <a:r>
              <a:rPr lang="en-US" dirty="0"/>
              <a:t>, including:</a:t>
            </a:r>
            <a:br>
              <a:rPr lang="en-US" dirty="0"/>
            </a:br>
            <a:endParaRPr lang="en-US" dirty="0"/>
          </a:p>
          <a:p>
            <a:pPr lvl="2"/>
            <a:r>
              <a:rPr lang="en-US" i="1" dirty="0"/>
              <a:t>A higher proportion of HIV-related cases</a:t>
            </a:r>
          </a:p>
          <a:p>
            <a:pPr lvl="2"/>
            <a:r>
              <a:rPr lang="en-US" i="1" dirty="0"/>
              <a:t>A sex ratio skewed toward male patients</a:t>
            </a:r>
          </a:p>
          <a:p>
            <a:pPr lvl="2"/>
            <a:r>
              <a:rPr lang="en-US" i="1" dirty="0"/>
              <a:t>An age distribution with a lower representation of children and elderly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3828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5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 Data </a:t>
            </a:r>
            <a:r>
              <a:rPr lang="de-DE" sz="2400" b="1" dirty="0" err="1">
                <a:solidFill>
                  <a:schemeClr val="accent1"/>
                </a:solidFill>
              </a:rPr>
              <a:t>migration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to</a:t>
            </a:r>
            <a:r>
              <a:rPr lang="de-DE" sz="2400" b="1" dirty="0">
                <a:solidFill>
                  <a:schemeClr val="accent1"/>
                </a:solidFill>
              </a:rPr>
              <a:t> RKI</a:t>
            </a:r>
            <a:endParaRPr lang="de-DE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8619BD-E1B8-4ADE-B7ED-322133FD6CC0}"/>
              </a:ext>
            </a:extLst>
          </p:cNvPr>
          <p:cNvSpPr/>
          <p:nvPr/>
        </p:nvSpPr>
        <p:spPr>
          <a:xfrm>
            <a:off x="783706" y="1140719"/>
            <a:ext cx="1003103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facilate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cross-platform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migration</a:t>
            </a:r>
            <a:r>
              <a:rPr lang="de-DE" dirty="0"/>
              <a:t> and </a:t>
            </a:r>
            <a:r>
              <a:rPr lang="de-DE" dirty="0" err="1"/>
              <a:t>compatibility</a:t>
            </a:r>
            <a:r>
              <a:rPr lang="de-DE" dirty="0"/>
              <a:t>, a </a:t>
            </a:r>
            <a:r>
              <a:rPr lang="de-DE" b="1" dirty="0"/>
              <a:t>MySQL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CREATE TABLE </a:t>
            </a:r>
            <a:r>
              <a:rPr lang="de-DE" dirty="0" err="1"/>
              <a:t>schema</a:t>
            </a:r>
            <a:r>
              <a:rPr lang="de-DE" dirty="0"/>
              <a:t> was also </a:t>
            </a:r>
            <a:r>
              <a:rPr lang="de-DE" dirty="0" err="1"/>
              <a:t>developed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original PostgreSQL </a:t>
            </a:r>
            <a:r>
              <a:rPr lang="de-DE" dirty="0" err="1"/>
              <a:t>implementation</a:t>
            </a:r>
            <a:r>
              <a:rPr lang="de-DE" dirty="0"/>
              <a:t>. This </a:t>
            </a:r>
            <a:r>
              <a:rPr lang="de-DE" dirty="0" err="1"/>
              <a:t>should</a:t>
            </a:r>
            <a:r>
              <a:rPr lang="de-DE" dirty="0"/>
              <a:t> support </a:t>
            </a:r>
            <a:r>
              <a:rPr lang="de-DE" dirty="0" err="1"/>
              <a:t>broader</a:t>
            </a:r>
            <a:r>
              <a:rPr lang="de-DE" dirty="0"/>
              <a:t> </a:t>
            </a:r>
            <a:r>
              <a:rPr lang="de-DE" dirty="0" err="1"/>
              <a:t>deployment</a:t>
            </a:r>
            <a:r>
              <a:rPr lang="de-DE" dirty="0"/>
              <a:t> </a:t>
            </a:r>
            <a:r>
              <a:rPr lang="de-DE" dirty="0" err="1"/>
              <a:t>situations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. 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 SQL </a:t>
            </a:r>
            <a:r>
              <a:rPr lang="de-DE" dirty="0" err="1"/>
              <a:t>lite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a pull </a:t>
            </a:r>
            <a:r>
              <a:rPr lang="de-DE" dirty="0" err="1"/>
              <a:t>request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Public Use File Repository.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859FC-16BE-4482-9149-E42C90682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430" y="3389264"/>
            <a:ext cx="2571750" cy="1781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D05F24-209C-4775-9AE5-4BCDD2D77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721" y="366185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97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6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4118E-262F-4CC7-80FC-71EDCBC96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826754"/>
            <a:ext cx="10840963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4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7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AMBDIAG (Outpatient Diagnosis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E98A1-0756-4A54-80CD-12E8FEB4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975970"/>
            <a:ext cx="11364911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0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8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AMBFALL (Outpatient Case Master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B3A97C-50D6-493A-8C25-2AE3A7898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" y="904522"/>
            <a:ext cx="11212490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5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9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AMBLEIST  (Outpatient Service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9A39E-EE57-4D17-B92D-305339B72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8" y="853010"/>
            <a:ext cx="10774053" cy="548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8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10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AMBOPS ( Outpatient </a:t>
            </a:r>
            <a:r>
              <a:rPr lang="de-DE" sz="2400" b="1" dirty="0" err="1">
                <a:solidFill>
                  <a:schemeClr val="accent1"/>
                </a:solidFill>
              </a:rPr>
              <a:t>Surgeries</a:t>
            </a:r>
            <a:r>
              <a:rPr lang="de-DE" sz="2400" b="1" dirty="0">
                <a:solidFill>
                  <a:schemeClr val="accent1"/>
                </a:solidFill>
              </a:rPr>
              <a:t>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image5.png">
            <a:extLst>
              <a:ext uri="{FF2B5EF4-FFF2-40B4-BE49-F238E27FC236}">
                <a16:creationId xmlns:a16="http://schemas.microsoft.com/office/drawing/2014/main" id="{3B153570-8569-4046-B2A4-6CD1EE9C04F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78072" y="878160"/>
            <a:ext cx="10955904" cy="522875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47530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11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EZD ( </a:t>
            </a:r>
            <a:r>
              <a:rPr lang="de-DE" sz="2400" b="1" dirty="0" err="1">
                <a:solidFill>
                  <a:schemeClr val="accent1"/>
                </a:solidFill>
              </a:rPr>
              <a:t>Prescription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Supplementary</a:t>
            </a:r>
            <a:r>
              <a:rPr lang="de-DE" sz="2400" b="1" dirty="0">
                <a:solidFill>
                  <a:schemeClr val="accent1"/>
                </a:solidFill>
              </a:rPr>
              <a:t> Data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6AF24-482D-484C-ADA3-F78F4732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780680"/>
            <a:ext cx="11774543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2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12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KHDIAG ( </a:t>
            </a:r>
            <a:r>
              <a:rPr lang="de-DE" sz="2400" b="1" dirty="0" err="1">
                <a:solidFill>
                  <a:schemeClr val="accent1"/>
                </a:solidFill>
              </a:rPr>
              <a:t>Inpatient</a:t>
            </a:r>
            <a:r>
              <a:rPr lang="de-DE" sz="2400" b="1" dirty="0">
                <a:solidFill>
                  <a:schemeClr val="accent1"/>
                </a:solidFill>
              </a:rPr>
              <a:t> Diagnosis Table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61BF4AF8-A235-4926-A56E-CBF38273E75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43780" y="971896"/>
            <a:ext cx="10910020" cy="442704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4967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13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KHENTG ( </a:t>
            </a:r>
            <a:r>
              <a:rPr lang="de-DE" sz="2400" b="1" dirty="0" err="1">
                <a:solidFill>
                  <a:schemeClr val="accent1"/>
                </a:solidFill>
              </a:rPr>
              <a:t>Inpatient</a:t>
            </a:r>
            <a:r>
              <a:rPr lang="de-DE" sz="2400" b="1" dirty="0">
                <a:solidFill>
                  <a:schemeClr val="accent1"/>
                </a:solidFill>
              </a:rPr>
              <a:t> Billing)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13.png">
            <a:extLst>
              <a:ext uri="{FF2B5EF4-FFF2-40B4-BE49-F238E27FC236}">
                <a16:creationId xmlns:a16="http://schemas.microsoft.com/office/drawing/2014/main" id="{561D7ECD-A8BA-4572-8F55-2CA48BC5633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5096" y="971826"/>
            <a:ext cx="11315369" cy="44907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02021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14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KHFA ( Hospital Department </a:t>
            </a:r>
            <a:r>
              <a:rPr lang="de-DE" sz="2400" b="1" dirty="0" err="1">
                <a:solidFill>
                  <a:schemeClr val="accent1"/>
                </a:solidFill>
              </a:rPr>
              <a:t>Stay</a:t>
            </a:r>
            <a:r>
              <a:rPr lang="de-DE" sz="2400" b="1" dirty="0">
                <a:solidFill>
                  <a:schemeClr val="accent1"/>
                </a:solidFill>
              </a:rPr>
              <a:t> Summary)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4.png">
            <a:extLst>
              <a:ext uri="{FF2B5EF4-FFF2-40B4-BE49-F238E27FC236}">
                <a16:creationId xmlns:a16="http://schemas.microsoft.com/office/drawing/2014/main" id="{911ED7AA-EF40-4C44-8809-68750216C84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53780" y="944934"/>
            <a:ext cx="11522102" cy="541141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05637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15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KHFALL ( </a:t>
            </a:r>
            <a:r>
              <a:rPr lang="de-DE" sz="2400" b="1" dirty="0" err="1">
                <a:solidFill>
                  <a:schemeClr val="accent1"/>
                </a:solidFill>
              </a:rPr>
              <a:t>Inpatient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case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master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data</a:t>
            </a:r>
            <a:r>
              <a:rPr lang="de-DE" sz="2400" b="1" dirty="0">
                <a:solidFill>
                  <a:schemeClr val="accent1"/>
                </a:solidFill>
              </a:rPr>
              <a:t>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8.png">
            <a:extLst>
              <a:ext uri="{FF2B5EF4-FFF2-40B4-BE49-F238E27FC236}">
                <a16:creationId xmlns:a16="http://schemas.microsoft.com/office/drawing/2014/main" id="{544ADE8F-D77B-4EC2-B810-87CF7586999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62774" y="998386"/>
            <a:ext cx="11169041" cy="486122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13520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16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KHRPOZ ( </a:t>
            </a:r>
            <a:r>
              <a:rPr lang="de-DE" sz="2400" b="1" dirty="0" err="1">
                <a:solidFill>
                  <a:schemeClr val="accent1"/>
                </a:solidFill>
              </a:rPr>
              <a:t>Inpatient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Procedure</a:t>
            </a:r>
            <a:r>
              <a:rPr lang="de-DE" sz="2400" b="1" dirty="0">
                <a:solidFill>
                  <a:schemeClr val="accent1"/>
                </a:solidFill>
              </a:rPr>
              <a:t> Table)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3.png">
            <a:extLst>
              <a:ext uri="{FF2B5EF4-FFF2-40B4-BE49-F238E27FC236}">
                <a16:creationId xmlns:a16="http://schemas.microsoft.com/office/drawing/2014/main" id="{C33AD1AA-201E-4438-86A4-C1CC466CA57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5036" y="943333"/>
            <a:ext cx="10906647" cy="51235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47708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17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REZ ( </a:t>
            </a:r>
            <a:r>
              <a:rPr lang="de-DE" sz="2400" b="1" dirty="0" err="1">
                <a:solidFill>
                  <a:schemeClr val="accent1"/>
                </a:solidFill>
              </a:rPr>
              <a:t>Prescription</a:t>
            </a:r>
            <a:r>
              <a:rPr lang="de-DE" sz="2400" b="1" dirty="0">
                <a:solidFill>
                  <a:schemeClr val="accent1"/>
                </a:solidFill>
              </a:rPr>
              <a:t>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2050" name="Picture 2" descr="Screenshot 2025-06-04 at 09.14.19.png">
            <a:extLst>
              <a:ext uri="{FF2B5EF4-FFF2-40B4-BE49-F238E27FC236}">
                <a16:creationId xmlns:a16="http://schemas.microsoft.com/office/drawing/2014/main" id="{F6B1C432-3FDD-4817-95A1-909411A9F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52" y="1117945"/>
            <a:ext cx="10910791" cy="504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3372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18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VERQ ( </a:t>
            </a:r>
            <a:r>
              <a:rPr lang="de-DE" sz="2400" b="1" dirty="0" err="1">
                <a:solidFill>
                  <a:schemeClr val="accent1"/>
                </a:solidFill>
              </a:rPr>
              <a:t>Prescription</a:t>
            </a:r>
            <a:r>
              <a:rPr lang="de-DE" sz="2400" b="1" dirty="0">
                <a:solidFill>
                  <a:schemeClr val="accent1"/>
                </a:solidFill>
              </a:rPr>
              <a:t>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image7.png">
            <a:extLst>
              <a:ext uri="{FF2B5EF4-FFF2-40B4-BE49-F238E27FC236}">
                <a16:creationId xmlns:a16="http://schemas.microsoft.com/office/drawing/2014/main" id="{6E425254-2F76-4015-A288-AA4F2F285F0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98943" y="878160"/>
            <a:ext cx="10994113" cy="538501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52016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19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VERQDMP ( </a:t>
            </a:r>
            <a:r>
              <a:rPr lang="de-DE" sz="2400" b="1" dirty="0" err="1">
                <a:solidFill>
                  <a:schemeClr val="accent1"/>
                </a:solidFill>
              </a:rPr>
              <a:t>Prescription</a:t>
            </a:r>
            <a:r>
              <a:rPr lang="de-DE" sz="2400" b="1" dirty="0">
                <a:solidFill>
                  <a:schemeClr val="accent1"/>
                </a:solidFill>
              </a:rPr>
              <a:t>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image18.png">
            <a:extLst>
              <a:ext uri="{FF2B5EF4-FFF2-40B4-BE49-F238E27FC236}">
                <a16:creationId xmlns:a16="http://schemas.microsoft.com/office/drawing/2014/main" id="{02FE18E4-4EDC-4431-9E0F-AA324BD7EC2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38646" y="996444"/>
            <a:ext cx="11153138" cy="519297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65973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20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VERS ( </a:t>
            </a:r>
            <a:r>
              <a:rPr lang="de-DE" sz="2400" b="1" dirty="0" err="1">
                <a:solidFill>
                  <a:schemeClr val="accent1"/>
                </a:solidFill>
              </a:rPr>
              <a:t>Prescription</a:t>
            </a:r>
            <a:r>
              <a:rPr lang="de-DE" sz="2400" b="1" dirty="0">
                <a:solidFill>
                  <a:schemeClr val="accent1"/>
                </a:solidFill>
              </a:rPr>
              <a:t>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image11.png">
            <a:extLst>
              <a:ext uri="{FF2B5EF4-FFF2-40B4-BE49-F238E27FC236}">
                <a16:creationId xmlns:a16="http://schemas.microsoft.com/office/drawing/2014/main" id="{64FA7837-2E13-4756-844A-4ACABFEFBE5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5035" y="1011747"/>
            <a:ext cx="11129284" cy="531637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56575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21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ZAHNBEF  (Dental </a:t>
            </a:r>
            <a:r>
              <a:rPr lang="de-DE" sz="2400" b="1" dirty="0" err="1">
                <a:solidFill>
                  <a:schemeClr val="accent1"/>
                </a:solidFill>
              </a:rPr>
              <a:t>Findings</a:t>
            </a:r>
            <a:r>
              <a:rPr lang="de-DE" sz="2400" b="1" dirty="0">
                <a:solidFill>
                  <a:schemeClr val="accent1"/>
                </a:solidFill>
              </a:rPr>
              <a:t> /</a:t>
            </a:r>
            <a:r>
              <a:rPr lang="de-DE" sz="2400" b="1" dirty="0" err="1">
                <a:solidFill>
                  <a:schemeClr val="accent1"/>
                </a:solidFill>
              </a:rPr>
              <a:t>Diagnostic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Assesment</a:t>
            </a:r>
            <a:r>
              <a:rPr lang="de-DE" sz="2400" b="1" dirty="0">
                <a:solidFill>
                  <a:schemeClr val="accent1"/>
                </a:solidFill>
              </a:rPr>
              <a:t>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5B336E-3B84-44D6-BAF6-06587AF3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9" y="861944"/>
            <a:ext cx="11537341" cy="52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24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22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ZAHNFALL  (Dental Case Master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2A3A6-ECF3-4252-8BA9-90073C0A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90" y="878160"/>
            <a:ext cx="11475693" cy="499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18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23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ZAHNLEIST  (Dental Service Line Items)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708911-42A9-46FD-9504-41F975E73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833075"/>
            <a:ext cx="1138396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53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24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OPS CATALOG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EA072447-A1CB-4F37-BC63-E57DFDEE060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5035" y="1065861"/>
            <a:ext cx="10914600" cy="490556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7822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25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ICD-10 CATALOG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15.png">
            <a:extLst>
              <a:ext uri="{FF2B5EF4-FFF2-40B4-BE49-F238E27FC236}">
                <a16:creationId xmlns:a16="http://schemas.microsoft.com/office/drawing/2014/main" id="{9F826E7B-C404-40AA-8F49-8673C8C4829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27382" y="1188526"/>
            <a:ext cx="11137236" cy="448094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61154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Widescreen</PresentationFormat>
  <Paragraphs>83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ＭＳ 明朝</vt:lpstr>
      <vt:lpstr>Office Theme</vt:lpstr>
      <vt:lpstr>Master Thesis: CORE Pipeline Updates  BACKEND-SEED DATABASE PROGRESS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Thothathri, Gokul</dc:creator>
  <cp:lastModifiedBy>Thothathri, Gokul</cp:lastModifiedBy>
  <cp:revision>14</cp:revision>
  <dcterms:created xsi:type="dcterms:W3CDTF">2025-06-03T13:28:02Z</dcterms:created>
  <dcterms:modified xsi:type="dcterms:W3CDTF">2025-06-18T10:36:55Z</dcterms:modified>
</cp:coreProperties>
</file>