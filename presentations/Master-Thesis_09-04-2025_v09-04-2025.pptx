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5" r:id="rId4"/>
    <p:sldId id="266" r:id="rId5"/>
    <p:sldId id="268" r:id="rId6"/>
    <p:sldId id="267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D90A-47C3-48E2-9E20-C3715F9A4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01632-E8D0-4012-BE01-FA8B740B4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BB79F-8721-4D68-9EF6-8F25397E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53523-594E-4410-9BD3-F445AE92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CA8DC-E7A0-4907-82FE-62C3F05F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186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F159-6B2C-42AF-9A3E-EF114982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F7AC-2C23-4C02-A44A-4789EFAA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C29AB-9A5B-43FF-A80C-304A3370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7B35F-383E-4C79-9110-B3C9AFE4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79AA-DE01-4616-8DE0-8C14F2B7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33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4F32-749F-48F9-BFF4-A0607060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BB9E5-58D0-4CF6-9453-3BCEF5840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5EBB4-FD0E-4B34-BECC-5B014EF2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EB6D-9444-49B0-9988-C11176996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B527C-2F33-44CE-9AF3-1B2B92D9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11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746A-58DD-418D-936C-0687FDCB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AB5A-0989-47A7-9291-4B3CB6939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33695-6DF1-4FB1-80B8-B6452D205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C6412-36E8-4088-907C-523948D1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114C-1C1C-4F0C-A07B-89CCA7F4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EB1EA-92A4-44A8-BFB0-E789EBF6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5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3F92-5F9C-4FC1-83EF-B3EB7CA95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0E278-CB65-4B2B-9FD3-FEB008B54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65AD0-ACD6-4F63-A0D1-152EB6946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C188F-0AC3-49FE-9E2E-125B92ACD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D052A-3847-469A-BF81-F8DC0D4DD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31C36-E3A5-4ADC-AD5A-1AA56A55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3A9E4-481F-4871-A4E1-5E6924C6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A0B30-D56F-4103-80BC-AF5CC51E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136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28893-1CA8-427C-BF34-038D5D7D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906C7-B142-43AD-9CB9-05FCBC76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4CAC69-CCC0-4215-9441-2D554708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95BCE-86F3-451C-99ED-38C5DAC5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987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399E8-50B2-4D51-AE72-9476CAB0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546F7-6887-464E-ADB3-0906AFF3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2FF9A-D43F-484D-AC5A-CE99F27E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809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332A-A45D-4BEF-ABBA-B89DB4EE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8465-EC28-45FA-8493-258F4853F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3C585-890C-40D3-A428-4DC86F321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FF2F5-F33D-4B73-8C7F-46090B08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DAC20-82C2-4969-A7E1-76A2614A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343B1-B647-4A5D-B528-2D01B29F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554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7F5A-3906-41DD-A7AE-1CC95AA4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643E4-3DD5-4D0C-9D1A-5C9D97FE3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AF082-4E10-4D18-8E2F-9AC9B009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4641F-3A8E-4957-BF86-431F2AD8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03447-AEE4-43BB-B7DF-30A2FD1E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305FC-90CB-4604-9C38-3ED52B13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26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476D-8E07-4F46-AB97-28F08C41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22E1F-3B9F-4E38-9647-C65A0F09E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70020-B484-442B-BC44-346F2DDD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D5E0E-54B1-4FC8-8F70-2D41C7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C15B3-EEC0-4A6E-81B4-255F7318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48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5BB03-44AC-42EB-A005-69745DF33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B0904-1A5D-4DA9-9E19-456F2C2A7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50ACF-5D55-4990-B4E0-50F4009A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50C1F-18FF-470C-92A8-0009C3EA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BC85B-7575-48AB-B722-5AEC1EA6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575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1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336000" tIns="312000" rIns="864000" bIns="60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600"/>
              </a:lnSpc>
              <a:spcAft>
                <a:spcPts val="800"/>
              </a:spcAft>
            </a:pPr>
            <a:endParaRPr lang="de-DE" sz="3733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0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0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5" y="6176545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1" name="Rechteck 10"/>
          <p:cNvSpPr/>
          <p:nvPr userDrawn="1"/>
        </p:nvSpPr>
        <p:spPr>
          <a:xfrm>
            <a:off x="119530" y="6290235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0" y="2267306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933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8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933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609585" indent="0">
              <a:buNone/>
              <a:defRPr>
                <a:solidFill>
                  <a:srgbClr val="FFFFFF"/>
                </a:solidFill>
              </a:defRPr>
            </a:lvl2pPr>
            <a:lvl3pPr marL="1219170" indent="0">
              <a:buNone/>
              <a:defRPr>
                <a:solidFill>
                  <a:srgbClr val="FFFFFF"/>
                </a:solidFill>
              </a:defRPr>
            </a:lvl3pPr>
            <a:lvl4pPr marL="1828754" indent="0">
              <a:buNone/>
              <a:defRPr>
                <a:solidFill>
                  <a:srgbClr val="FFFFFF"/>
                </a:solidFill>
              </a:defRPr>
            </a:lvl4pPr>
            <a:lvl5pPr marL="2438339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7596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935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EE4CD-9F59-4AF4-AC56-46B1DFEF8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BE561-4F15-443A-AC7E-E52D480EF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A4F4D-4C52-4BCD-B7AF-59C3CDBF9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FCD0C-9444-4FC4-96D6-D27CF6E7089C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3DE25-59D5-41CD-BC18-BF20E07F7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D0F5-8F7C-4F71-AE15-C94A1F522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804C0-B3F2-4E54-9845-76891A05DC2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34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.org/datatype3.html" TargetMode="External"/><Relationship Id="rId2" Type="http://schemas.openxmlformats.org/officeDocument/2006/relationships/hyperlink" Target="https://github.com/FDZ-Gesundheit/Public-Use-File/tree/main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ostgresql.org/docs/current/datatyp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247996" y="3761393"/>
            <a:ext cx="6004983" cy="988936"/>
          </a:xfrm>
        </p:spPr>
        <p:txBody>
          <a:bodyPr/>
          <a:lstStyle/>
          <a:p>
            <a:r>
              <a:rPr lang="de-DE" dirty="0"/>
              <a:t>Gokul Thothathri 09.04.2025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de-D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54B85C8E-8021-4701-9CCF-BD0C8596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512" y="1452880"/>
            <a:ext cx="5571535" cy="4457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8B64D1-67F9-47C4-9B41-2CCAE9FE3DFF}"/>
              </a:ext>
            </a:extLst>
          </p:cNvPr>
          <p:cNvSpPr txBox="1"/>
          <p:nvPr/>
        </p:nvSpPr>
        <p:spPr>
          <a:xfrm>
            <a:off x="289402" y="1114077"/>
            <a:ext cx="471947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metadata comprises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unique tables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each representing a distinct data domain in the Health Data Lab framework.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REZ, AMBFALL, AMBLIEST, KHFALL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ZAHNFALL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Clinical/Billing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(BJAHR – Reporting Year, VSID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Person-specific pseudonym for one year,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PSID –  Long-term pseudonym 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longitudinally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linkable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essential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cohort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identifiers,making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joins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possible,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 Building Patient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Jouneys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Synthetic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 Running temporal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31CEC-B9B7-42A3-93A0-6CDD2DCDCBA3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Metadata Overview of Health Data Lab Tables: DM3</a:t>
            </a:r>
            <a:endParaRPr lang="de-DE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6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Clinical Table Descriptions and Relevance for PrEP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71ED0C-69E0-4781-BE9A-8F386ED2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35" y="1074404"/>
            <a:ext cx="10840963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9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pic>
        <p:nvPicPr>
          <p:cNvPr id="6" name="table">
            <a:extLst>
              <a:ext uri="{FF2B5EF4-FFF2-40B4-BE49-F238E27FC236}">
                <a16:creationId xmlns:a16="http://schemas.microsoft.com/office/drawing/2014/main" id="{3F213CC7-A5C3-4539-AE9D-6D94BCA2B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58" y="1725105"/>
            <a:ext cx="5656084" cy="2828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8AA68B-6882-4916-8ECF-C056B9B620EB}"/>
              </a:ext>
            </a:extLst>
          </p:cNvPr>
          <p:cNvSpPr txBox="1"/>
          <p:nvPr/>
        </p:nvSpPr>
        <p:spPr>
          <a:xfrm>
            <a:off x="499620" y="1581541"/>
            <a:ext cx="46097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Modular Score Breakdown: </a:t>
            </a:r>
            <a:r>
              <a:rPr lang="en-US" dirty="0"/>
              <a:t>Each row is a building block of the PrEP score—diagnoses, prescriptions, counseling, etc.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Table-</a:t>
            </a:r>
            <a:r>
              <a:rPr lang="de-DE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to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-Feature Mapping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de-DE" dirty="0"/>
              <a:t>The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maps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score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source (</a:t>
            </a:r>
            <a:r>
              <a:rPr lang="de-DE" dirty="0" err="1"/>
              <a:t>table</a:t>
            </a:r>
            <a:r>
              <a:rPr lang="de-DE" dirty="0"/>
              <a:t>)</a:t>
            </a:r>
          </a:p>
          <a:p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Enables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Data Flow Modeling: </a:t>
            </a:r>
            <a:r>
              <a:rPr lang="de-DE" dirty="0"/>
              <a:t>By </a:t>
            </a:r>
            <a:r>
              <a:rPr lang="de-DE" dirty="0" err="1"/>
              <a:t>assigning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score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originates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foundation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generation</a:t>
            </a: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B1E16A-695C-4D84-B953-E48AA85E5E09}"/>
              </a:ext>
            </a:extLst>
          </p:cNvPr>
          <p:cNvSpPr txBox="1"/>
          <p:nvPr/>
        </p:nvSpPr>
        <p:spPr>
          <a:xfrm>
            <a:off x="499620" y="49171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PrEP Score Components and Table Mapping</a:t>
            </a:r>
            <a:endParaRPr lang="de-DE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92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5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516035-6F18-4BA5-9C89-B70CCBC9A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3"/>
          <a:stretch/>
        </p:blipFill>
        <p:spPr>
          <a:xfrm>
            <a:off x="8520862" y="3429000"/>
            <a:ext cx="1945965" cy="1981807"/>
          </a:xfrm>
          <a:prstGeom prst="rect">
            <a:avLst/>
          </a:prstGeom>
          <a:effectLst>
            <a:outerShdw blurRad="50800" dist="50800" dir="5400000" sx="106000" sy="106000" algn="ctr" rotWithShape="0">
              <a:schemeClr val="accent6"/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458B3C-B647-4365-843D-9490BB48F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114" y="1468419"/>
            <a:ext cx="3001463" cy="1413533"/>
          </a:xfrm>
          <a:prstGeom prst="rect">
            <a:avLst/>
          </a:prstGeom>
          <a:effectLst>
            <a:outerShdw blurRad="50800" dist="50800" dir="5400000" sx="108000" sy="108000" algn="ctr" rotWithShape="0">
              <a:srgbClr val="FF0000">
                <a:alpha val="9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853544-326F-4404-8BE3-A1048AB1E1DB}"/>
              </a:ext>
            </a:extLst>
          </p:cNvPr>
          <p:cNvSpPr txBox="1"/>
          <p:nvPr/>
        </p:nvSpPr>
        <p:spPr>
          <a:xfrm>
            <a:off x="471340" y="292043"/>
            <a:ext cx="11616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i="0" u="none" strike="noStrike" dirty="0">
                <a:solidFill>
                  <a:schemeClr val="accent1"/>
                </a:solidFill>
                <a:effectLst/>
              </a:rPr>
              <a:t>Relational Database Management System (RDMS): PostgreSQL </a:t>
            </a:r>
            <a:r>
              <a:rPr lang="de-DE" sz="2400" b="1" i="0" u="none" strike="noStrike" dirty="0" err="1">
                <a:solidFill>
                  <a:schemeClr val="accent1"/>
                </a:solidFill>
                <a:effectLst/>
              </a:rPr>
              <a:t>over</a:t>
            </a:r>
            <a:r>
              <a:rPr lang="de-DE" sz="2400" b="1" i="0" u="none" strike="noStrike" dirty="0">
                <a:solidFill>
                  <a:schemeClr val="accent1"/>
                </a:solidFill>
                <a:effectLst/>
              </a:rPr>
              <a:t> SQLite in </a:t>
            </a:r>
            <a:r>
              <a:rPr lang="de-DE" sz="2400" b="1" i="0" u="none" strike="noStrike" dirty="0" err="1">
                <a:solidFill>
                  <a:schemeClr val="accent1"/>
                </a:solidFill>
                <a:effectLst/>
              </a:rPr>
              <a:t>the</a:t>
            </a:r>
            <a:r>
              <a:rPr lang="de-DE" sz="2400" b="1" i="0" u="none" strike="noStrike" dirty="0">
                <a:solidFill>
                  <a:schemeClr val="accent1"/>
                </a:solidFill>
                <a:effectLst/>
              </a:rPr>
              <a:t> CORE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81A6D-8ABB-4B8C-86C2-C47C8EDDEA9A}"/>
              </a:ext>
            </a:extLst>
          </p:cNvPr>
          <p:cNvSpPr txBox="1"/>
          <p:nvPr/>
        </p:nvSpPr>
        <p:spPr>
          <a:xfrm>
            <a:off x="1081805" y="1278037"/>
            <a:ext cx="5461235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Concurrency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User 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Multi-user</a:t>
            </a:r>
          </a:p>
          <a:p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</a:t>
            </a:r>
            <a:r>
              <a:rPr lang="de-DE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de-DE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Power: 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SQL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SQL, JSON,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indexes</a:t>
            </a:r>
            <a:endParaRPr lang="de-DE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de-DE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Scales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</a:t>
            </a:r>
          </a:p>
          <a:p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de-DE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Singularity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</a:t>
            </a:r>
          </a:p>
          <a:p>
            <a:endParaRPr lang="de-DE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de-D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lang="de-DE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Ecosystem</a:t>
            </a:r>
            <a:r>
              <a:rPr lang="de-DE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endParaRPr lang="de-DE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783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3B64E-F825-4CE1-B5F1-8FE2C741EFA4}"/>
              </a:ext>
            </a:extLst>
          </p:cNvPr>
          <p:cNvSpPr/>
          <p:nvPr/>
        </p:nvSpPr>
        <p:spPr>
          <a:xfrm>
            <a:off x="473896" y="460494"/>
            <a:ext cx="15877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EBBD-59FB-407A-BE56-1590EB34C708}"/>
              </a:ext>
            </a:extLst>
          </p:cNvPr>
          <p:cNvSpPr txBox="1"/>
          <p:nvPr/>
        </p:nvSpPr>
        <p:spPr>
          <a:xfrm>
            <a:off x="1036320" y="1198880"/>
            <a:ext cx="1017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>
                <a:hlinkClick r:id="rId2"/>
              </a:rPr>
              <a:t>https://github.com/FDZ-Gesundheit/Public-Use-File/tree/main</a:t>
            </a:r>
            <a:r>
              <a:rPr lang="de-DE" dirty="0"/>
              <a:t>   - FDZ PUF Generation Model</a:t>
            </a:r>
          </a:p>
          <a:p>
            <a:pPr marL="342900" indent="-342900">
              <a:buAutoNum type="arabicPeriod"/>
            </a:pPr>
            <a:r>
              <a:rPr lang="de-DE" dirty="0">
                <a:hlinkClick r:id="rId3"/>
              </a:rPr>
              <a:t>https://sqlite.org/datatype3.html</a:t>
            </a:r>
            <a:r>
              <a:rPr lang="de-DE" dirty="0"/>
              <a:t> – SQL Lite Data </a:t>
            </a:r>
            <a:r>
              <a:rPr lang="de-DE" dirty="0" err="1"/>
              <a:t>Types</a:t>
            </a:r>
            <a:r>
              <a:rPr lang="de-DE" dirty="0"/>
              <a:t> and Storage </a:t>
            </a:r>
            <a:r>
              <a:rPr lang="de-DE" dirty="0" err="1"/>
              <a:t>Classes</a:t>
            </a:r>
            <a:r>
              <a:rPr lang="de-DE" dirty="0"/>
              <a:t> </a:t>
            </a:r>
          </a:p>
          <a:p>
            <a:pPr marL="342900" indent="-342900">
              <a:buAutoNum type="arabicPeriod"/>
            </a:pPr>
            <a:r>
              <a:rPr lang="de-DE" dirty="0">
                <a:hlinkClick r:id="rId4"/>
              </a:rPr>
              <a:t>https://www.postgresql.org/docs/current/datatype.html</a:t>
            </a:r>
            <a:r>
              <a:rPr lang="de-DE" dirty="0"/>
              <a:t> – PostgreSQL Data </a:t>
            </a:r>
            <a:r>
              <a:rPr lang="de-DE" dirty="0" err="1"/>
              <a:t>Types</a:t>
            </a:r>
            <a:endParaRPr lang="de-DE" dirty="0"/>
          </a:p>
          <a:p>
            <a:pPr marL="342900" indent="-34290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5681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ＭＳ 明朝</vt:lpstr>
      <vt:lpstr>Times New Roman</vt:lpstr>
      <vt:lpstr>Office Theme</vt:lpstr>
      <vt:lpstr>Master Thesis: CORE Pipeline Updates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CORE Pipeline Updates</dc:title>
  <dc:creator>Thothathri, Gokul</dc:creator>
  <cp:lastModifiedBy>Thothathri, Gokul</cp:lastModifiedBy>
  <cp:revision>18</cp:revision>
  <dcterms:created xsi:type="dcterms:W3CDTF">2025-04-09T04:49:04Z</dcterms:created>
  <dcterms:modified xsi:type="dcterms:W3CDTF">2025-04-09T14:55:26Z</dcterms:modified>
</cp:coreProperties>
</file>