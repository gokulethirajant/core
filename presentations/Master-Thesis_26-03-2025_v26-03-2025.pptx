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5" r:id="rId4"/>
    <p:sldId id="266" r:id="rId5"/>
    <p:sldId id="267" r:id="rId6"/>
    <p:sldId id="269" r:id="rId7"/>
    <p:sldId id="26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BB40-4F20-496C-8326-5731EFBC1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87CBD-90EB-4D79-819D-C4680D96A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C3357-0728-4310-BB10-6ADBD470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44BB3-8A53-4929-8BAF-B1094FCB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4E38-3745-473F-8CE6-6D3C16A3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22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49AB-0BB8-4A58-A106-40D840B0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C16A2-5B69-4105-ACCE-64F383124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B158-3A20-433E-AA47-48896720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C2A6C-A6E1-48C6-B100-B8AE2DBC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11C74-760D-4E65-9975-4D93EDE6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26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DEC1-790E-4AEF-AABD-156C209B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7140B-D59F-4BF9-B534-A1C949D7D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FF07F-2F5C-47DC-9EED-1E861296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160F-B9DE-4AD8-A305-4FCDF49C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F3645-AF25-40D8-B462-52FBE707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71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B42A-52FC-4AAD-BE8D-8E8329AF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726EF-5029-4DD7-BA54-BBFCB3174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6EAE7-8FB0-4D51-B070-DE99A240A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702EE-F661-4E0C-ADAD-A55A63BF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36940-7CF2-4B0A-9F41-27879256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80BBB-E745-40A0-B8AF-FCFE6DF4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30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3C23-D9F3-4F84-BD38-10E542A6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BBA1D-BCEB-4791-B6C1-E6A737A25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9BAB2-39C3-45F8-9F23-8E1009006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54DA7-4029-434F-B02F-070024938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0E2499-48DC-4033-B61A-D6748FCA1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404B2-8966-48DD-B023-93C70D17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76DC7-9A0E-4B50-8210-79EBA65F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B96D1-9AC3-47DF-9412-77164477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76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04BF-7F3B-4495-A334-C0DF80C0F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895D4-3C6E-4BF7-86E1-95A5E7CB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8DA6F-7993-457E-B1F0-84335064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0FFDC-AC0E-4336-B812-DE106557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92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DD8B8-8BC9-4B73-A47D-FA3D7019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EDAF2-2673-483A-9D53-B68BD54B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6C909-8AA6-4751-A2EE-795908B3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3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B90B-250D-41DF-8080-2E76F6F0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519EC-D0F7-46B4-B3EC-FAF72C2F4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E8C45-0B37-4D7A-8308-B3DEB0732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E8D6F-9473-4DB7-87F5-61B5161F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49B20-0EFC-404A-9002-7A9CACF3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769C9-CE01-4721-90D6-CF4CE467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37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3F7E-E104-4FB9-9F78-348002E1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8C6DDF-196F-47CE-AC4A-EBBE35441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52B98-56D7-4D12-8233-AAC4F95B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CBC20-7E5A-4444-8177-5BB1DE41D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0795D-17AC-4EB8-A56B-6C9F7F7E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A84AE-E52E-4D49-B200-97CC6358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31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AA67-1145-4386-9D18-4611738D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18299-7F57-4274-B68F-65E75DCE1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247F3-0839-4AE7-A4E5-09ED21B4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1439F-5E1F-4744-9C14-67D28C17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99A6-46D9-4D31-8049-160885BC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2829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700D5-F820-41B2-8CC8-E4387D7AA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643EA-1A80-46FA-A4D9-D812584C1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E0EF0-93D2-41E8-8B12-68E6A295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ECDD1-515A-430A-A746-A1A6A980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F1544-8668-4CCE-851C-C3A620DE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7157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1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36000" tIns="312000" rIns="864000" bIns="60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600"/>
              </a:lnSpc>
              <a:spcAft>
                <a:spcPts val="800"/>
              </a:spcAft>
            </a:pPr>
            <a:endParaRPr lang="de-DE" sz="3733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0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0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5" y="6176545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11" name="Rechteck 10"/>
          <p:cNvSpPr/>
          <p:nvPr userDrawn="1"/>
        </p:nvSpPr>
        <p:spPr>
          <a:xfrm>
            <a:off x="119530" y="6290235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0" y="2267306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933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8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609585" indent="0">
              <a:buNone/>
              <a:defRPr>
                <a:solidFill>
                  <a:srgbClr val="FFFFFF"/>
                </a:solidFill>
              </a:defRPr>
            </a:lvl2pPr>
            <a:lvl3pPr marL="1219170" indent="0">
              <a:buNone/>
              <a:defRPr>
                <a:solidFill>
                  <a:srgbClr val="FFFFFF"/>
                </a:solidFill>
              </a:defRPr>
            </a:lvl3pPr>
            <a:lvl4pPr marL="1828754" indent="0">
              <a:buNone/>
              <a:defRPr>
                <a:solidFill>
                  <a:srgbClr val="FFFFFF"/>
                </a:solidFill>
              </a:defRPr>
            </a:lvl4pPr>
            <a:lvl5pPr marL="2438339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7549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530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0C6FE-8CBF-46B4-A422-DEF1B3E7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4A84A-7F53-4897-98EF-184D730E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AFA7E-4F19-4927-9A0B-3D6AC519A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8916A-8E41-4311-BAEF-33FD2ABB0ECE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B8426-9D8F-477C-80CD-7BE6517C1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055B0-1E7E-4A14-9606-63A0FE391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200DC-A9BC-4416-9925-6EDA59DBF2E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29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Gokul Thothathri 26.03.2025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B7692-C44D-475B-892B-383F8B6E0226}"/>
              </a:ext>
            </a:extLst>
          </p:cNvPr>
          <p:cNvSpPr txBox="1"/>
          <p:nvPr/>
        </p:nvSpPr>
        <p:spPr>
          <a:xfrm>
            <a:off x="1047947" y="1206630"/>
            <a:ext cx="10096106" cy="271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800" b="1" dirty="0">
                <a:solidFill>
                  <a:schemeClr val="accent1"/>
                </a:solidFill>
              </a:rPr>
              <a:t>Progress Highlights</a:t>
            </a:r>
            <a:br>
              <a:rPr lang="de-DE" sz="2800" b="1" dirty="0"/>
            </a:br>
            <a:r>
              <a:rPr lang="de-DE" sz="2000" b="1" dirty="0"/>
              <a:t>1. Goal:  </a:t>
            </a:r>
            <a:r>
              <a:rPr lang="en-US" sz="2000" b="1" dirty="0"/>
              <a:t>Building a privacy-preserving data pipeline for HIV-PrEP indicator reporting.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2. Based on the FDZ Gesundheit data structure (</a:t>
            </a:r>
            <a:r>
              <a:rPr lang="en-US" sz="2000" b="1" dirty="0" err="1"/>
              <a:t>DaTrav</a:t>
            </a:r>
            <a:r>
              <a:rPr lang="en-US" sz="2000" b="1" dirty="0"/>
              <a:t>) and ECDC PrEP indicators.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3. Emphasis on Synthetic Data Generation (PUF) using Class-1 anonymization techniques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416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B7692-C44D-475B-892B-383F8B6E0226}"/>
              </a:ext>
            </a:extLst>
          </p:cNvPr>
          <p:cNvSpPr txBox="1"/>
          <p:nvPr/>
        </p:nvSpPr>
        <p:spPr>
          <a:xfrm>
            <a:off x="1047947" y="509046"/>
            <a:ext cx="10096106" cy="456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800" b="1" dirty="0">
                <a:solidFill>
                  <a:schemeClr val="accent1"/>
                </a:solidFill>
              </a:rPr>
              <a:t>Technical </a:t>
            </a:r>
            <a:r>
              <a:rPr lang="de-DE" sz="2800" b="1" dirty="0" err="1">
                <a:solidFill>
                  <a:schemeClr val="accent1"/>
                </a:solidFill>
              </a:rPr>
              <a:t>Implementations</a:t>
            </a:r>
            <a:br>
              <a:rPr lang="de-DE" sz="2800" b="1" dirty="0"/>
            </a:br>
            <a:r>
              <a:rPr lang="de-DE" sz="2000" b="1" dirty="0"/>
              <a:t>1. </a:t>
            </a:r>
            <a:r>
              <a:rPr lang="en-US" sz="2000" b="1" dirty="0"/>
              <a:t>Fully</a:t>
            </a:r>
            <a:r>
              <a:rPr lang="en-US" sz="2000" dirty="0"/>
              <a:t> </a:t>
            </a:r>
            <a:r>
              <a:rPr lang="en-US" sz="2000" b="1" dirty="0"/>
              <a:t>local PUF generation pipeline</a:t>
            </a:r>
            <a:r>
              <a:rPr lang="en-US" sz="2000" dirty="0"/>
              <a:t> (no database dependency).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2. Input reference/Folder with: </a:t>
            </a:r>
            <a:br>
              <a:rPr lang="en-US" sz="2000" b="1" dirty="0"/>
            </a:br>
            <a:r>
              <a:rPr lang="en-US" sz="2000" b="1" dirty="0"/>
              <a:t>     a. DSB_ FDZ_Gesundheit_Tabellen.csv (tables)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     b. DSB_ FDZ_Gesundheit_Variablen.csv (field metadata)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     c. data_types.csv (used for typing &amp; pseudo detection)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3. Output: Synthetic CSV per table (written to Data/)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40FC1F-2364-4E69-9E1A-DE1DB943D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781" y="1946319"/>
            <a:ext cx="2846762" cy="31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9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B7692-C44D-475B-892B-383F8B6E0226}"/>
              </a:ext>
            </a:extLst>
          </p:cNvPr>
          <p:cNvSpPr txBox="1"/>
          <p:nvPr/>
        </p:nvSpPr>
        <p:spPr>
          <a:xfrm>
            <a:off x="848412" y="801279"/>
            <a:ext cx="10182520" cy="394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800" b="1" dirty="0" err="1">
                <a:solidFill>
                  <a:schemeClr val="accent1"/>
                </a:solidFill>
              </a:rPr>
              <a:t>Anonymization</a:t>
            </a:r>
            <a:r>
              <a:rPr lang="de-DE" sz="2800" b="1" dirty="0">
                <a:solidFill>
                  <a:schemeClr val="accent1"/>
                </a:solidFill>
              </a:rPr>
              <a:t> </a:t>
            </a:r>
            <a:r>
              <a:rPr lang="de-DE" sz="2800" b="1" dirty="0" err="1">
                <a:solidFill>
                  <a:schemeClr val="accent1"/>
                </a:solidFill>
              </a:rPr>
              <a:t>Techniques</a:t>
            </a:r>
            <a:r>
              <a:rPr lang="de-DE" sz="2800" b="1" dirty="0">
                <a:solidFill>
                  <a:schemeClr val="accent1"/>
                </a:solidFill>
              </a:rPr>
              <a:t>: Class 1</a:t>
            </a:r>
            <a:br>
              <a:rPr lang="de-DE" sz="2800" b="1" dirty="0"/>
            </a:br>
            <a:r>
              <a:rPr lang="de-DE" sz="2000" b="1" dirty="0"/>
              <a:t>1. </a:t>
            </a:r>
            <a:r>
              <a:rPr lang="en-US" sz="2000" b="1" dirty="0"/>
              <a:t>Pseudonymization</a:t>
            </a:r>
            <a:r>
              <a:rPr lang="en-US" sz="2000" dirty="0"/>
              <a:t>: Secure ID replacement via </a:t>
            </a:r>
            <a:r>
              <a:rPr lang="en-US" sz="2000" dirty="0" err="1"/>
              <a:t>generate_pseudonym</a:t>
            </a:r>
            <a:r>
              <a:rPr lang="en-US" sz="200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2. Constant Variable Handling</a:t>
            </a:r>
            <a:r>
              <a:rPr lang="en-US" sz="2000" dirty="0"/>
              <a:t>: Replaced with “CONST” where needed.</a:t>
            </a:r>
            <a:br>
              <a:rPr lang="en-US" sz="2000" b="1" dirty="0"/>
            </a:br>
            <a:r>
              <a:rPr lang="en-US" sz="2000" b="1" dirty="0"/>
              <a:t>3. Shuffling</a:t>
            </a:r>
            <a:r>
              <a:rPr lang="en-US" sz="2000" dirty="0"/>
              <a:t>: Each column randomized using secrets-based sorting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4. K-anonymity(k=3): </a:t>
            </a:r>
            <a:r>
              <a:rPr lang="de-DE" sz="2000" dirty="0"/>
              <a:t>Applied per </a:t>
            </a:r>
            <a:r>
              <a:rPr lang="de-DE" sz="2000" dirty="0" err="1"/>
              <a:t>column</a:t>
            </a:r>
            <a:r>
              <a:rPr lang="de-DE" sz="2000" dirty="0"/>
              <a:t> </a:t>
            </a:r>
            <a:r>
              <a:rPr lang="de-DE" sz="2000" dirty="0" err="1"/>
              <a:t>using</a:t>
            </a:r>
            <a:r>
              <a:rPr lang="de-DE" sz="2000" dirty="0"/>
              <a:t> </a:t>
            </a:r>
            <a:r>
              <a:rPr lang="de-DE" sz="2000" b="1" dirty="0" err="1"/>
              <a:t>force</a:t>
            </a:r>
            <a:r>
              <a:rPr lang="de-DE" sz="2000" b="1" dirty="0"/>
              <a:t>(k)</a:t>
            </a:r>
            <a:r>
              <a:rPr lang="de-DE" sz="2000" dirty="0"/>
              <a:t> </a:t>
            </a:r>
            <a:r>
              <a:rPr lang="de-DE" sz="2000" dirty="0" err="1"/>
              <a:t>function</a:t>
            </a:r>
            <a:r>
              <a:rPr lang="en-US" sz="2000" b="1" dirty="0"/>
              <a:t>  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5. </a:t>
            </a:r>
            <a:r>
              <a:rPr lang="de-DE" sz="2000" b="1" dirty="0"/>
              <a:t>Type-aware </a:t>
            </a:r>
            <a:r>
              <a:rPr lang="de-DE" sz="2000" b="1" dirty="0" err="1"/>
              <a:t>cleaning</a:t>
            </a:r>
            <a:r>
              <a:rPr lang="de-DE" sz="2000" b="1" dirty="0"/>
              <a:t>: </a:t>
            </a:r>
            <a:r>
              <a:rPr lang="de-DE" sz="2000" dirty="0" err="1"/>
              <a:t>Leveraging</a:t>
            </a:r>
            <a:r>
              <a:rPr lang="de-DE" sz="2000" b="1" dirty="0"/>
              <a:t> data_types.csv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simulate</a:t>
            </a:r>
            <a:r>
              <a:rPr lang="de-DE" sz="2000" dirty="0"/>
              <a:t> </a:t>
            </a:r>
            <a:r>
              <a:rPr lang="de-DE" sz="2000" dirty="0" err="1"/>
              <a:t>realistic</a:t>
            </a:r>
            <a:r>
              <a:rPr lang="de-DE" sz="2000" dirty="0"/>
              <a:t> </a:t>
            </a:r>
            <a:r>
              <a:rPr lang="de-DE" sz="2000" dirty="0" err="1"/>
              <a:t>fields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C8774-723E-459A-9BCC-DE80A1100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838" y="2774127"/>
            <a:ext cx="2857500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3F839C-2593-4962-9C31-4E4C167D7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900" y="1164752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2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5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B7692-C44D-475B-892B-383F8B6E0226}"/>
              </a:ext>
            </a:extLst>
          </p:cNvPr>
          <p:cNvSpPr txBox="1"/>
          <p:nvPr/>
        </p:nvSpPr>
        <p:spPr>
          <a:xfrm>
            <a:off x="857838" y="725864"/>
            <a:ext cx="10182520" cy="456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800" b="1" dirty="0">
                <a:solidFill>
                  <a:schemeClr val="accent1"/>
                </a:solidFill>
              </a:rPr>
              <a:t>Code Architecture </a:t>
            </a:r>
            <a:br>
              <a:rPr lang="de-DE" sz="2800" b="1" dirty="0"/>
            </a:br>
            <a:r>
              <a:rPr lang="de-DE" sz="2000" b="1" dirty="0"/>
              <a:t>1. generate_puf.py – </a:t>
            </a:r>
            <a:r>
              <a:rPr lang="de-DE" sz="2000" dirty="0" err="1"/>
              <a:t>main</a:t>
            </a:r>
            <a:r>
              <a:rPr lang="de-DE" sz="2000" dirty="0"/>
              <a:t> </a:t>
            </a:r>
            <a:r>
              <a:rPr lang="de-DE" sz="2000" dirty="0" err="1"/>
              <a:t>script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b="1" dirty="0"/>
              <a:t>2. helpers_local.py</a:t>
            </a:r>
            <a:r>
              <a:rPr lang="de-DE" sz="2000" b="1" dirty="0"/>
              <a:t>– </a:t>
            </a:r>
            <a:r>
              <a:rPr lang="en-US" sz="2000" dirty="0"/>
              <a:t>metadata parsing and data cleaning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3. </a:t>
            </a:r>
            <a:r>
              <a:rPr lang="de-DE" sz="2000" b="1" dirty="0"/>
              <a:t>functions_local.py– </a:t>
            </a:r>
            <a:r>
              <a:rPr lang="de-DE" sz="2000" dirty="0" err="1"/>
              <a:t>anonymization</a:t>
            </a:r>
            <a:r>
              <a:rPr lang="de-DE" sz="2000" dirty="0"/>
              <a:t> </a:t>
            </a:r>
            <a:r>
              <a:rPr lang="de-DE" sz="2000" dirty="0" err="1"/>
              <a:t>algorithms</a:t>
            </a:r>
            <a:r>
              <a:rPr lang="de-DE" sz="2000" dirty="0"/>
              <a:t> (</a:t>
            </a:r>
            <a:r>
              <a:rPr lang="de-DE" sz="2000" dirty="0" err="1"/>
              <a:t>shuffle</a:t>
            </a:r>
            <a:r>
              <a:rPr lang="de-DE" sz="2000" dirty="0"/>
              <a:t>, k-</a:t>
            </a:r>
            <a:r>
              <a:rPr lang="de-DE" sz="2000" dirty="0" err="1"/>
              <a:t>anon</a:t>
            </a:r>
            <a:r>
              <a:rPr lang="de-DE" sz="2000" dirty="0"/>
              <a:t>, pseudonym)</a:t>
            </a:r>
          </a:p>
          <a:p>
            <a:pPr>
              <a:lnSpc>
                <a:spcPct val="200000"/>
              </a:lnSpc>
            </a:pPr>
            <a:r>
              <a:rPr lang="de-DE" sz="2000" b="1" dirty="0" err="1"/>
              <a:t>Three</a:t>
            </a:r>
            <a:r>
              <a:rPr lang="de-DE" sz="2000" b="1" dirty="0"/>
              <a:t> </a:t>
            </a:r>
            <a:r>
              <a:rPr lang="de-DE" sz="2000" b="1" dirty="0" err="1"/>
              <a:t>branch</a:t>
            </a:r>
            <a:r>
              <a:rPr lang="de-DE" sz="2000" b="1" dirty="0"/>
              <a:t> </a:t>
            </a:r>
            <a:r>
              <a:rPr lang="de-DE" sz="2000" b="1" dirty="0" err="1"/>
              <a:t>Git</a:t>
            </a:r>
            <a:r>
              <a:rPr lang="de-DE" sz="2000" b="1" dirty="0"/>
              <a:t> </a:t>
            </a:r>
            <a:r>
              <a:rPr lang="de-DE" sz="2000" b="1" dirty="0" err="1"/>
              <a:t>version</a:t>
            </a:r>
            <a:r>
              <a:rPr lang="de-DE" sz="2000" b="1" dirty="0"/>
              <a:t> </a:t>
            </a:r>
            <a:r>
              <a:rPr lang="de-DE" sz="2000" b="1" dirty="0" err="1"/>
              <a:t>control</a:t>
            </a:r>
            <a:r>
              <a:rPr lang="de-DE" sz="2000" b="1" dirty="0"/>
              <a:t>: Class 1 – Class 2 – Class 3</a:t>
            </a:r>
            <a:br>
              <a:rPr lang="de-DE" sz="2000" b="1" dirty="0"/>
            </a:br>
            <a:r>
              <a:rPr lang="de-DE" sz="2000" b="1" dirty="0"/>
              <a:t>https://github.com/gokulethirajanT/CORE/tree/class1</a:t>
            </a:r>
            <a:br>
              <a:rPr lang="de-DE" sz="2000" b="1" dirty="0"/>
            </a:br>
            <a:endParaRPr lang="de-DE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B8919-433F-4460-8DD4-26DEB69BC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527" y="1432851"/>
            <a:ext cx="3084135" cy="128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7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6</a:t>
            </a:fld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71B1F1-0FBF-4ED3-933A-2761E0FA3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2500"/>
            <a:ext cx="10059804" cy="5553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B8CCED-4F09-4083-BD05-3D1B98B58522}"/>
              </a:ext>
            </a:extLst>
          </p:cNvPr>
          <p:cNvSpPr/>
          <p:nvPr/>
        </p:nvSpPr>
        <p:spPr>
          <a:xfrm>
            <a:off x="838200" y="316984"/>
            <a:ext cx="3145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solidFill>
                  <a:schemeClr val="accent1"/>
                </a:solidFill>
              </a:rPr>
              <a:t>PUF Data Generation Snippet: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002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7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B7692-C44D-475B-892B-383F8B6E0226}"/>
              </a:ext>
            </a:extLst>
          </p:cNvPr>
          <p:cNvSpPr txBox="1"/>
          <p:nvPr/>
        </p:nvSpPr>
        <p:spPr>
          <a:xfrm>
            <a:off x="480767" y="725864"/>
            <a:ext cx="10559591" cy="333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800" b="1" dirty="0">
                <a:solidFill>
                  <a:schemeClr val="accent1"/>
                </a:solidFill>
              </a:rPr>
              <a:t>Next Phase</a:t>
            </a:r>
            <a:br>
              <a:rPr lang="de-DE" sz="2800" b="1" dirty="0"/>
            </a:br>
            <a:r>
              <a:rPr lang="de-DE" sz="2000" b="1" dirty="0"/>
              <a:t>1. </a:t>
            </a:r>
            <a:r>
              <a:rPr lang="de-DE" sz="2000" b="1" dirty="0" err="1"/>
              <a:t>Validate</a:t>
            </a:r>
            <a:r>
              <a:rPr lang="de-DE" sz="2000" b="1" dirty="0"/>
              <a:t> </a:t>
            </a:r>
            <a:r>
              <a:rPr lang="de-DE" sz="2000" b="1" dirty="0" err="1"/>
              <a:t>the</a:t>
            </a:r>
            <a:r>
              <a:rPr lang="de-DE" sz="2000" b="1" dirty="0"/>
              <a:t> CSV </a:t>
            </a:r>
            <a:r>
              <a:rPr lang="de-DE" sz="2000" b="1" dirty="0" err="1"/>
              <a:t>files</a:t>
            </a:r>
            <a:r>
              <a:rPr lang="de-DE" sz="2000" b="1" dirty="0"/>
              <a:t>: </a:t>
            </a:r>
            <a:r>
              <a:rPr lang="en-US" sz="2000" dirty="0"/>
              <a:t>Evaluation metrics (utility, information loss, k-risk </a:t>
            </a:r>
            <a:r>
              <a:rPr lang="en-US" sz="2000" dirty="0" err="1"/>
              <a:t>etc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2. </a:t>
            </a:r>
            <a:r>
              <a:rPr lang="en-US" sz="2000" b="1" dirty="0">
                <a:solidFill>
                  <a:schemeClr val="accent1"/>
                </a:solidFill>
              </a:rPr>
              <a:t>Indicator mapping (ECDC) to synthetic data</a:t>
            </a:r>
            <a:br>
              <a:rPr lang="en-US" sz="2000" b="1" dirty="0">
                <a:solidFill>
                  <a:schemeClr val="accent1"/>
                </a:solidFill>
              </a:rPr>
            </a:br>
            <a:br>
              <a:rPr lang="de-DE" sz="2000" b="1" dirty="0"/>
            </a:b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827610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ＭＳ 明朝</vt:lpstr>
      <vt:lpstr>Office Theme</vt:lpstr>
      <vt:lpstr>Master Thesis: CORE Pipeline Updates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CORE pipeline updates</dc:title>
  <dc:creator>Thothathri, Gokul</dc:creator>
  <cp:lastModifiedBy>Thothathri, Gokul</cp:lastModifiedBy>
  <cp:revision>7</cp:revision>
  <dcterms:created xsi:type="dcterms:W3CDTF">2025-03-26T10:14:32Z</dcterms:created>
  <dcterms:modified xsi:type="dcterms:W3CDTF">2025-03-26T11:56:33Z</dcterms:modified>
</cp:coreProperties>
</file>