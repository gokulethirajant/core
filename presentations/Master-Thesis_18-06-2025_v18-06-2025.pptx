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80" r:id="rId3"/>
    <p:sldId id="286" r:id="rId4"/>
    <p:sldId id="271"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68" d="100"/>
          <a:sy n="68" d="100"/>
        </p:scale>
        <p:origin x="5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37AD0-588D-4569-9FC5-2888436B83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2B5FD078-D44C-43CA-93E0-D6322733B8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5374A8B7-2F88-4DC4-8277-0B2ADF1F95AE}"/>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AEC87084-A209-4E32-B810-DAA63B086445}"/>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5237949-58C8-4C9E-95DF-A37902662C4C}"/>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61321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230BA-5295-4028-9649-0B8732564563}"/>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81A1A863-1F85-42A7-A0E8-E2ABD8A350B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5CB83187-1EB1-49C3-BE2E-03DF26010292}"/>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EF1E53F5-8423-402C-80F0-A37BFA7E6BB2}"/>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4F64A300-9FA1-4FBF-81A1-F66396ADDB4D}"/>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1136419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A7BF0-B8F9-4EA2-B742-21C455CE79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99C30FC1-5899-4265-AF85-805A8C4227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88A2626-A6DE-4F5D-A7B5-2A7A28B52DD7}"/>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9DBFB672-DC44-4BE9-B6A9-7B643A5C9886}"/>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FC48B2CD-80F4-45FC-AD4C-BB14BC565B3C}"/>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2144341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C8D7-7F63-4240-B6C3-A11D483B0962}"/>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3C4601B4-C2DF-49E8-8523-BFC573DC527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12063C10-8F35-48AE-9CB0-A9E9F6051C5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094E3D91-793C-4814-B06F-B7955457B3B7}"/>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6" name="Footer Placeholder 5">
            <a:extLst>
              <a:ext uri="{FF2B5EF4-FFF2-40B4-BE49-F238E27FC236}">
                <a16:creationId xmlns:a16="http://schemas.microsoft.com/office/drawing/2014/main" id="{06D75F43-3780-4E25-84CC-A9DE1D0C3CE5}"/>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348CD9F7-0723-43CC-8389-FBBA20B008BB}"/>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549001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4483-3F7E-44B7-A639-5E832CE6D1BC}"/>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09AA0C37-FB8E-40EE-98A6-9C377AEB23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8ADB880-D38A-46E4-A10D-63686304E6B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375F4C2-1D75-4D22-879C-951EBD77D6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F96A365-5EAE-4390-99FA-A7D1BCD6471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C1C43D4A-CBC1-40BD-9669-43D67888E873}"/>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8" name="Footer Placeholder 7">
            <a:extLst>
              <a:ext uri="{FF2B5EF4-FFF2-40B4-BE49-F238E27FC236}">
                <a16:creationId xmlns:a16="http://schemas.microsoft.com/office/drawing/2014/main" id="{53763A79-D9C5-4DF8-BF7C-413666C7F762}"/>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A7E98CE3-7E57-483F-A51C-559BB8287C0F}"/>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199104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CB9ED-E693-4814-B7F7-718165031A8E}"/>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41827132-8163-4924-8E28-6409A63D4E18}"/>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4" name="Footer Placeholder 3">
            <a:extLst>
              <a:ext uri="{FF2B5EF4-FFF2-40B4-BE49-F238E27FC236}">
                <a16:creationId xmlns:a16="http://schemas.microsoft.com/office/drawing/2014/main" id="{40E183F8-1736-4DBC-82F1-3D2A47567D27}"/>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813314AB-CA37-4CD6-A864-3F3B2B745F67}"/>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2227952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6E32C-8E84-4155-8D0A-BE90F0F5D856}"/>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3" name="Footer Placeholder 2">
            <a:extLst>
              <a:ext uri="{FF2B5EF4-FFF2-40B4-BE49-F238E27FC236}">
                <a16:creationId xmlns:a16="http://schemas.microsoft.com/office/drawing/2014/main" id="{B83643B7-3CEE-4E5C-8755-E5A3FC5AAAAF}"/>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F53E262F-FF68-4D52-959A-0032371750D0}"/>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4163334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0112B-D12E-46C9-B64A-4433F3AFA7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CBE3C9A9-8A16-4AF6-AF73-15D7B061B6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23B6CCF5-855C-4EC7-9AB5-8EC3D7069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B452EC9-E9AE-498C-A650-3159106D298B}"/>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6" name="Footer Placeholder 5">
            <a:extLst>
              <a:ext uri="{FF2B5EF4-FFF2-40B4-BE49-F238E27FC236}">
                <a16:creationId xmlns:a16="http://schemas.microsoft.com/office/drawing/2014/main" id="{C48552D6-5F3D-4011-9C4B-4CC9B188E9B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1CA094F1-A4B6-41CE-875A-12E7866E0746}"/>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89594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7C3DB-C033-49B5-B1B3-12F802E87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C54398BD-F488-45B1-A330-D7D32FF83F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9AC37AB1-A5FA-4FD4-BD8C-3DA68FBE21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303A290-4535-49E0-8533-E41AD097241F}"/>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6" name="Footer Placeholder 5">
            <a:extLst>
              <a:ext uri="{FF2B5EF4-FFF2-40B4-BE49-F238E27FC236}">
                <a16:creationId xmlns:a16="http://schemas.microsoft.com/office/drawing/2014/main" id="{6D9E352C-4FE5-4318-97B4-258F7BBA5660}"/>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A64F9FB4-788F-4A26-A685-D8F2809D3DAF}"/>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244113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49158-E185-4DFB-BB75-1F2E2A13B1F2}"/>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67709182-D59C-4BEF-834D-3D98604840E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47511F1C-0753-4803-ACB3-1FBEB97D7717}"/>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0A27DC10-C786-45A7-9307-4EE6C98ED12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33124CD-00B4-4E71-A915-0252FFDF5BF9}"/>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2453354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FA6C96-614F-45D4-BC52-C4B5D3959C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56703845-885C-4B30-B579-500353F3BBD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DD8DFE75-7D21-4A46-BB25-FAD78BC7E75D}"/>
              </a:ext>
            </a:extLst>
          </p:cNvPr>
          <p:cNvSpPr>
            <a:spLocks noGrp="1"/>
          </p:cNvSpPr>
          <p:nvPr>
            <p:ph type="dt" sz="half" idx="10"/>
          </p:nvPr>
        </p:nvSpPr>
        <p:spPr/>
        <p:txBody>
          <a:body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4B895E7B-F383-4F0B-982D-DF2AAE35C0BF}"/>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815E5B82-8EFC-44D0-8133-81AC681D22A5}"/>
              </a:ext>
            </a:extLst>
          </p:cNvPr>
          <p:cNvSpPr>
            <a:spLocks noGrp="1"/>
          </p:cNvSpPr>
          <p:nvPr>
            <p:ph type="sldNum" sz="quarter" idx="12"/>
          </p:nvPr>
        </p:nvSpPr>
        <p:spPr/>
        <p:txBody>
          <a:bodyPr/>
          <a:lstStyle/>
          <a:p>
            <a:fld id="{514CE418-387E-436C-BA30-9BE91C3B6A6B}" type="slidenum">
              <a:rPr lang="de-DE" smtClean="0"/>
              <a:t>‹#›</a:t>
            </a:fld>
            <a:endParaRPr lang="de-DE"/>
          </a:p>
        </p:txBody>
      </p:sp>
    </p:spTree>
    <p:extLst>
      <p:ext uri="{BB962C8B-B14F-4D97-AF65-F5344CB8AC3E}">
        <p14:creationId xmlns:p14="http://schemas.microsoft.com/office/powerpoint/2010/main" val="3948436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el_Standardfoto">
    <p:spTree>
      <p:nvGrpSpPr>
        <p:cNvPr id="1" name=""/>
        <p:cNvGrpSpPr/>
        <p:nvPr/>
      </p:nvGrpSpPr>
      <p:grpSpPr>
        <a:xfrm>
          <a:off x="0" y="0"/>
          <a:ext cx="0" cy="0"/>
          <a:chOff x="0" y="0"/>
          <a:chExt cx="0" cy="0"/>
        </a:xfrm>
      </p:grpSpPr>
      <p:pic>
        <p:nvPicPr>
          <p:cNvPr id="2" name="Bild 1" descr="PPT_Background_16zu9_RGB_NEU.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84875"/>
            <a:ext cx="11663680" cy="4356608"/>
          </a:xfrm>
          <a:prstGeom prst="rect">
            <a:avLst/>
          </a:prstGeom>
        </p:spPr>
      </p:pic>
      <p:sp>
        <p:nvSpPr>
          <p:cNvPr id="21" name="Textfeld 20"/>
          <p:cNvSpPr txBox="1"/>
          <p:nvPr userDrawn="1"/>
        </p:nvSpPr>
        <p:spPr>
          <a:xfrm>
            <a:off x="4832469" y="2264793"/>
            <a:ext cx="7359531" cy="2678579"/>
          </a:xfrm>
          <a:prstGeom prst="rect">
            <a:avLst/>
          </a:prstGeom>
          <a:solidFill>
            <a:srgbClr val="4D8AD2"/>
          </a:solidFill>
          <a:ln>
            <a:noFill/>
          </a:ln>
          <a:effectLst/>
          <a:extLst>
            <a:ext uri="{FAA26D3D-D897-4be2-8F04-BA451C77F1D7}">
              <ma14:placeholderFlag xmlns="" xmlns:ma14="http://schemas.microsoft.com/office/mac/drawingml/2011/main"/>
            </a:ext>
            <a:ext uri="{C572A759-6A51-4108-AA02-DFA0A04FC94B}">
              <ma14:wrappingTextBoxFlag xmlns=""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252000" tIns="234000" rIns="648000" bIns="450000" numCol="1" spcCol="0" rtlCol="0" fromWordArt="0" anchor="ctr" anchorCtr="0" forceAA="0" compatLnSpc="1">
            <a:prstTxWarp prst="textNoShape">
              <a:avLst/>
            </a:prstTxWarp>
            <a:noAutofit/>
          </a:bodyPr>
          <a:lstStyle/>
          <a:p>
            <a:pPr algn="r">
              <a:lnSpc>
                <a:spcPts val="1200"/>
              </a:lnSpc>
              <a:spcAft>
                <a:spcPts val="600"/>
              </a:spcAft>
            </a:pPr>
            <a:endParaRPr lang="de-DE" sz="2800" dirty="0">
              <a:solidFill>
                <a:srgbClr val="FFFFFF"/>
              </a:solidFill>
              <a:effectLst/>
              <a:latin typeface="Calibri"/>
              <a:ea typeface="ＭＳ 明朝"/>
              <a:cs typeface="Calibri"/>
            </a:endParaRPr>
          </a:p>
        </p:txBody>
      </p:sp>
      <p:cxnSp>
        <p:nvCxnSpPr>
          <p:cNvPr id="23" name="Gerade Verbindung 22"/>
          <p:cNvCxnSpPr/>
          <p:nvPr userDrawn="1"/>
        </p:nvCxnSpPr>
        <p:spPr>
          <a:xfrm>
            <a:off x="5246520" y="2015662"/>
            <a:ext cx="0" cy="3160411"/>
          </a:xfrm>
          <a:prstGeom prst="line">
            <a:avLst/>
          </a:prstGeom>
          <a:ln>
            <a:solidFill>
              <a:schemeClr val="bg1"/>
            </a:solidFill>
          </a:ln>
          <a:effectLst/>
          <a:extLst>
            <a:ext uri="{FAA26D3D-D897-4be2-8F04-BA451C77F1D7}">
              <ma14:placeholderFlag xmlns="" xmlns:ma14="http://schemas.microsoft.com/office/mac/drawingml/2011/main"/>
            </a:ext>
            <a:ext uri="{C572A759-6A51-4108-AA02-DFA0A04FC94B}">
              <ma14:wrappingTextBoxFlag xmlns="" xmlns:ma14="http://schemas.microsoft.com/office/mac/drawingml/2011/main"/>
            </a:ext>
          </a:ex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userDrawn="1"/>
        </p:nvCxnSpPr>
        <p:spPr>
          <a:xfrm>
            <a:off x="11252979" y="2009672"/>
            <a:ext cx="0" cy="3166401"/>
          </a:xfrm>
          <a:prstGeom prst="line">
            <a:avLst/>
          </a:prstGeom>
          <a:ln>
            <a:solidFill>
              <a:schemeClr val="bg1"/>
            </a:solidFill>
          </a:ln>
          <a:effectLst/>
          <a:extLst>
            <a:ext uri="{FAA26D3D-D897-4be2-8F04-BA451C77F1D7}">
              <ma14:placeholderFlag xmlns="" xmlns:ma14="http://schemas.microsoft.com/office/mac/drawingml/2011/main"/>
            </a:ext>
            <a:ext uri="{C572A759-6A51-4108-AA02-DFA0A04FC94B}">
              <ma14:wrappingTextBoxFlag xmlns="" xmlns:ma14="http://schemas.microsoft.com/office/mac/drawingml/2011/main"/>
            </a:ext>
          </a:ex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r>
              <a:rPr lang="de-DE"/>
              <a:t>02.11.15</a:t>
            </a:r>
            <a:endParaRPr lang="de-DE" dirty="0"/>
          </a:p>
        </p:txBody>
      </p:sp>
      <p:sp>
        <p:nvSpPr>
          <p:cNvPr id="5" name="Foliennummernplatzhalter 4"/>
          <p:cNvSpPr>
            <a:spLocks noGrp="1"/>
          </p:cNvSpPr>
          <p:nvPr>
            <p:ph type="sldNum" sz="quarter" idx="12"/>
          </p:nvPr>
        </p:nvSpPr>
        <p:spPr/>
        <p:txBody>
          <a:bodyPr/>
          <a:lstStyle/>
          <a:p>
            <a:fld id="{162A217B-ED1C-D84B-8478-63C77FA79618}" type="slidenum">
              <a:rPr lang="de-DE" smtClean="0"/>
              <a:pPr/>
              <a:t>‹#›</a:t>
            </a:fld>
            <a:endParaRPr lang="de-DE" dirty="0"/>
          </a:p>
        </p:txBody>
      </p:sp>
      <p:sp>
        <p:nvSpPr>
          <p:cNvPr id="15" name="Rechteck 14"/>
          <p:cNvSpPr/>
          <p:nvPr userDrawn="1"/>
        </p:nvSpPr>
        <p:spPr>
          <a:xfrm>
            <a:off x="3294136" y="6176547"/>
            <a:ext cx="1677635" cy="681457"/>
          </a:xfrm>
          <a:prstGeom prst="rect">
            <a:avLst/>
          </a:prstGeom>
          <a:solidFill>
            <a:schemeClr val="bg1"/>
          </a:solidFill>
          <a:ln>
            <a:noFill/>
          </a:ln>
          <a:effectLst>
            <a:outerShdw blurRad="40000" dist="23000" dir="5400000" rotWithShape="0">
              <a:schemeClr val="bg1">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11" name="Rechteck 10"/>
          <p:cNvSpPr/>
          <p:nvPr userDrawn="1"/>
        </p:nvSpPr>
        <p:spPr>
          <a:xfrm>
            <a:off x="119532" y="6290237"/>
            <a:ext cx="11545089" cy="567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1800"/>
          </a:p>
        </p:txBody>
      </p:sp>
      <p:sp>
        <p:nvSpPr>
          <p:cNvPr id="13" name="Titel 1"/>
          <p:cNvSpPr>
            <a:spLocks noGrp="1"/>
          </p:cNvSpPr>
          <p:nvPr>
            <p:ph type="ctrTitle" hasCustomPrompt="1"/>
          </p:nvPr>
        </p:nvSpPr>
        <p:spPr>
          <a:xfrm>
            <a:off x="5246521" y="2267308"/>
            <a:ext cx="6006459" cy="1687127"/>
          </a:xfrm>
        </p:spPr>
        <p:txBody>
          <a:bodyPr lIns="252000" tIns="108000" rIns="252000" bIns="108000" anchor="t" anchorCtr="0">
            <a:noAutofit/>
          </a:bodyPr>
          <a:lstStyle>
            <a:lvl1pPr algn="l">
              <a:defRPr sz="2200" b="1" i="0">
                <a:solidFill>
                  <a:schemeClr val="bg1"/>
                </a:solidFill>
              </a:defRPr>
            </a:lvl1pPr>
          </a:lstStyle>
          <a:p>
            <a:r>
              <a:rPr lang="de-DE" dirty="0"/>
              <a:t>Mastertitelformat  bearbeiten</a:t>
            </a:r>
          </a:p>
        </p:txBody>
      </p:sp>
      <p:sp>
        <p:nvSpPr>
          <p:cNvPr id="14" name="Textplatzhalter 16"/>
          <p:cNvSpPr>
            <a:spLocks noGrp="1"/>
          </p:cNvSpPr>
          <p:nvPr>
            <p:ph type="body" sz="quarter" idx="14"/>
          </p:nvPr>
        </p:nvSpPr>
        <p:spPr>
          <a:xfrm>
            <a:off x="5247219" y="3954433"/>
            <a:ext cx="6004983" cy="988936"/>
          </a:xfrm>
        </p:spPr>
        <p:txBody>
          <a:bodyPr lIns="252000" tIns="108000" rIns="252000" bIns="144000" anchor="b" anchorCtr="0">
            <a:noAutofit/>
          </a:bodyPr>
          <a:lstStyle>
            <a:lvl1pPr marL="0" indent="0">
              <a:lnSpc>
                <a:spcPts val="2200"/>
              </a:lnSpc>
              <a:spcBef>
                <a:spcPts val="0"/>
              </a:spcBef>
              <a:buNone/>
              <a:defRPr sz="1800">
                <a:solidFill>
                  <a:schemeClr val="bg1"/>
                </a:solidFill>
              </a:defRPr>
            </a:lvl1pPr>
            <a:lvl2pPr marL="457189" indent="0">
              <a:buNone/>
              <a:defRPr>
                <a:solidFill>
                  <a:srgbClr val="FFFFFF"/>
                </a:solidFill>
              </a:defRPr>
            </a:lvl2pPr>
            <a:lvl3pPr marL="914378" indent="0">
              <a:buNone/>
              <a:defRPr>
                <a:solidFill>
                  <a:srgbClr val="FFFFFF"/>
                </a:solidFill>
              </a:defRPr>
            </a:lvl3pPr>
            <a:lvl4pPr marL="1371566" indent="0">
              <a:buNone/>
              <a:defRPr>
                <a:solidFill>
                  <a:srgbClr val="FFFFFF"/>
                </a:solidFill>
              </a:defRPr>
            </a:lvl4pPr>
            <a:lvl5pPr marL="1828754" indent="0">
              <a:buNone/>
              <a:defRPr>
                <a:solidFill>
                  <a:srgbClr val="FFFFFF"/>
                </a:solidFill>
              </a:defRPr>
            </a:lvl5pPr>
          </a:lstStyle>
          <a:p>
            <a:pPr lvl="0"/>
            <a:r>
              <a:rPr lang="de-DE" dirty="0"/>
              <a:t>Mastertextformat bearbeiten</a:t>
            </a:r>
          </a:p>
        </p:txBody>
      </p:sp>
    </p:spTree>
    <p:extLst>
      <p:ext uri="{BB962C8B-B14F-4D97-AF65-F5344CB8AC3E}">
        <p14:creationId xmlns:p14="http://schemas.microsoft.com/office/powerpoint/2010/main" val="469325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r>
              <a:rPr lang="de-DE"/>
              <a:t>02.11.15</a:t>
            </a:r>
            <a:endParaRPr lang="de-DE" dirty="0"/>
          </a:p>
        </p:txBody>
      </p:sp>
      <p:sp>
        <p:nvSpPr>
          <p:cNvPr id="4" name="Fußzeilenplatzhalter 3"/>
          <p:cNvSpPr>
            <a:spLocks noGrp="1"/>
          </p:cNvSpPr>
          <p:nvPr>
            <p:ph type="ftr" sz="quarter" idx="11"/>
          </p:nvPr>
        </p:nvSpPr>
        <p:spPr/>
        <p:txBody>
          <a:bodyPr/>
          <a:lstStyle/>
          <a:p>
            <a:r>
              <a:rPr lang="de-DE"/>
              <a:t>Lorem ipsum dolor sit</a:t>
            </a:r>
            <a:endParaRPr lang="de-DE" dirty="0"/>
          </a:p>
        </p:txBody>
      </p:sp>
      <p:sp>
        <p:nvSpPr>
          <p:cNvPr id="5" name="Foliennummernplatzhalter 4"/>
          <p:cNvSpPr>
            <a:spLocks noGrp="1"/>
          </p:cNvSpPr>
          <p:nvPr>
            <p:ph type="sldNum" sz="quarter" idx="12"/>
          </p:nvPr>
        </p:nvSpPr>
        <p:spPr/>
        <p:txBody>
          <a:bodyPr/>
          <a:lstStyle/>
          <a:p>
            <a:fld id="{162A217B-ED1C-D84B-8478-63C77FA79618}" type="slidenum">
              <a:rPr lang="de-DE" smtClean="0"/>
              <a:pPr/>
              <a:t>‹#›</a:t>
            </a:fld>
            <a:endParaRPr lang="de-DE" dirty="0"/>
          </a:p>
        </p:txBody>
      </p:sp>
      <p:sp>
        <p:nvSpPr>
          <p:cNvPr id="6" name="Inhaltsplatzhalter 2"/>
          <p:cNvSpPr>
            <a:spLocks noGrp="1"/>
          </p:cNvSpPr>
          <p:nvPr>
            <p:ph sz="quarter" idx="13"/>
          </p:nvPr>
        </p:nvSpPr>
        <p:spPr>
          <a:xfrm>
            <a:off x="609600" y="1412777"/>
            <a:ext cx="5177227" cy="502188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2"/>
          <p:cNvSpPr>
            <a:spLocks noGrp="1"/>
          </p:cNvSpPr>
          <p:nvPr>
            <p:ph sz="quarter" idx="14"/>
          </p:nvPr>
        </p:nvSpPr>
        <p:spPr>
          <a:xfrm>
            <a:off x="6106834" y="1412777"/>
            <a:ext cx="5147628" cy="502188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platzhalter 1"/>
          <p:cNvSpPr>
            <a:spLocks noGrp="1"/>
          </p:cNvSpPr>
          <p:nvPr>
            <p:ph type="title"/>
          </p:nvPr>
        </p:nvSpPr>
        <p:spPr>
          <a:xfrm>
            <a:off x="609600" y="918943"/>
            <a:ext cx="10644861" cy="609398"/>
          </a:xfrm>
          <a:prstGeom prst="rect">
            <a:avLst/>
          </a:prstGeom>
        </p:spPr>
        <p:txBody>
          <a:bodyPr vert="horz" lIns="0" tIns="0" rIns="0" bIns="0" rtlCol="0" anchor="t" anchorCtr="0">
            <a:spAutoFit/>
          </a:bodyPr>
          <a:lstStyle/>
          <a:p>
            <a:r>
              <a:rPr lang="de-DE" dirty="0"/>
              <a:t>Mastertitelformat bearbeiten</a:t>
            </a:r>
          </a:p>
        </p:txBody>
      </p:sp>
    </p:spTree>
    <p:extLst>
      <p:ext uri="{BB962C8B-B14F-4D97-AF65-F5344CB8AC3E}">
        <p14:creationId xmlns:p14="http://schemas.microsoft.com/office/powerpoint/2010/main" val="77748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36E214-719C-44A7-A2E9-D25300552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DDE72FE6-1D40-4A3A-A9CB-61AF724DAD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E959E7A-D5B9-4FDF-B299-9A6EE1F646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333CC6-11D2-4BA3-90EA-99D008240141}" type="datetimeFigureOut">
              <a:rPr lang="de-DE" smtClean="0"/>
              <a:t>17.06.2025</a:t>
            </a:fld>
            <a:endParaRPr lang="de-DE"/>
          </a:p>
        </p:txBody>
      </p:sp>
      <p:sp>
        <p:nvSpPr>
          <p:cNvPr id="5" name="Footer Placeholder 4">
            <a:extLst>
              <a:ext uri="{FF2B5EF4-FFF2-40B4-BE49-F238E27FC236}">
                <a16:creationId xmlns:a16="http://schemas.microsoft.com/office/drawing/2014/main" id="{022437E8-FF25-4860-A124-11D820FAE6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324B9F87-DF65-44F9-9BED-48B272D334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CE418-387E-436C-BA30-9BE91C3B6A6B}" type="slidenum">
              <a:rPr lang="de-DE" smtClean="0"/>
              <a:t>‹#›</a:t>
            </a:fld>
            <a:endParaRPr lang="de-DE"/>
          </a:p>
        </p:txBody>
      </p:sp>
    </p:spTree>
    <p:extLst>
      <p:ext uri="{BB962C8B-B14F-4D97-AF65-F5344CB8AC3E}">
        <p14:creationId xmlns:p14="http://schemas.microsoft.com/office/powerpoint/2010/main" val="1821169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normAutofit/>
          </a:bodyPr>
          <a:lstStyle/>
          <a:p>
            <a:r>
              <a:rPr lang="de-DE" dirty="0"/>
              <a:t>Master Thesis: CORE Pipeline Updates</a:t>
            </a:r>
            <a:br>
              <a:rPr lang="de-DE" dirty="0"/>
            </a:br>
            <a:r>
              <a:rPr lang="de-DE" dirty="0"/>
              <a:t>RKI-</a:t>
            </a:r>
            <a:r>
              <a:rPr lang="de-DE" dirty="0" err="1"/>
              <a:t>Linked</a:t>
            </a:r>
            <a:r>
              <a:rPr lang="de-DE" dirty="0"/>
              <a:t> Database Integration </a:t>
            </a:r>
            <a:br>
              <a:rPr lang="de-DE" dirty="0"/>
            </a:br>
            <a:endParaRPr lang="de-DE" dirty="0"/>
          </a:p>
        </p:txBody>
      </p:sp>
      <p:sp>
        <p:nvSpPr>
          <p:cNvPr id="5" name="Textplatzhalter 4"/>
          <p:cNvSpPr>
            <a:spLocks noGrp="1"/>
          </p:cNvSpPr>
          <p:nvPr>
            <p:ph type="body" sz="quarter" idx="14"/>
          </p:nvPr>
        </p:nvSpPr>
        <p:spPr>
          <a:xfrm>
            <a:off x="5459999" y="3678295"/>
            <a:ext cx="4503737" cy="741702"/>
          </a:xfrm>
        </p:spPr>
        <p:txBody>
          <a:bodyPr/>
          <a:lstStyle/>
          <a:p>
            <a:r>
              <a:rPr lang="de-DE" dirty="0"/>
              <a:t>Gokul Thothathri 18.06.2025</a:t>
            </a:r>
          </a:p>
        </p:txBody>
      </p:sp>
    </p:spTree>
    <p:extLst>
      <p:ext uri="{BB962C8B-B14F-4D97-AF65-F5344CB8AC3E}">
        <p14:creationId xmlns:p14="http://schemas.microsoft.com/office/powerpoint/2010/main" val="3916114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162A217B-ED1C-D84B-8478-63C77FA79618}" type="slidenum">
              <a:rPr lang="de-DE" smtClean="0"/>
              <a:t>2</a:t>
            </a:fld>
            <a:endParaRPr lang="de-DE"/>
          </a:p>
        </p:txBody>
      </p:sp>
      <p:sp>
        <p:nvSpPr>
          <p:cNvPr id="6" name="TextBox 5">
            <a:extLst>
              <a:ext uri="{FF2B5EF4-FFF2-40B4-BE49-F238E27FC236}">
                <a16:creationId xmlns:a16="http://schemas.microsoft.com/office/drawing/2014/main" id="{E3BD87F7-73CE-40FF-956D-ADDE6792EFE5}"/>
              </a:ext>
            </a:extLst>
          </p:cNvPr>
          <p:cNvSpPr txBox="1"/>
          <p:nvPr/>
        </p:nvSpPr>
        <p:spPr>
          <a:xfrm>
            <a:off x="575034" y="400279"/>
            <a:ext cx="9370243" cy="461665"/>
          </a:xfrm>
          <a:prstGeom prst="rect">
            <a:avLst/>
          </a:prstGeom>
          <a:noFill/>
        </p:spPr>
        <p:txBody>
          <a:bodyPr wrap="square" rtlCol="0">
            <a:spAutoFit/>
          </a:bodyPr>
          <a:lstStyle/>
          <a:p>
            <a:r>
              <a:rPr lang="de-DE" sz="2400" b="1" dirty="0">
                <a:solidFill>
                  <a:schemeClr val="accent1"/>
                </a:solidFill>
              </a:rPr>
              <a:t> Data </a:t>
            </a:r>
            <a:r>
              <a:rPr lang="de-DE" sz="2400" b="1" dirty="0" err="1">
                <a:solidFill>
                  <a:schemeClr val="accent1"/>
                </a:solidFill>
              </a:rPr>
              <a:t>migration</a:t>
            </a:r>
            <a:r>
              <a:rPr lang="de-DE" sz="2400" b="1" dirty="0">
                <a:solidFill>
                  <a:schemeClr val="accent1"/>
                </a:solidFill>
              </a:rPr>
              <a:t> </a:t>
            </a:r>
            <a:r>
              <a:rPr lang="de-DE" sz="2400" b="1" dirty="0" err="1">
                <a:solidFill>
                  <a:schemeClr val="accent1"/>
                </a:solidFill>
              </a:rPr>
              <a:t>to</a:t>
            </a:r>
            <a:r>
              <a:rPr lang="de-DE" sz="2400" b="1" dirty="0">
                <a:solidFill>
                  <a:schemeClr val="accent1"/>
                </a:solidFill>
              </a:rPr>
              <a:t> RKI(</a:t>
            </a:r>
            <a:r>
              <a:rPr lang="de-DE" sz="2400" b="1" dirty="0" err="1">
                <a:solidFill>
                  <a:schemeClr val="accent1"/>
                </a:solidFill>
              </a:rPr>
              <a:t>From</a:t>
            </a:r>
            <a:r>
              <a:rPr lang="de-DE" sz="2400" b="1" dirty="0">
                <a:solidFill>
                  <a:schemeClr val="accent1"/>
                </a:solidFill>
              </a:rPr>
              <a:t> </a:t>
            </a:r>
            <a:r>
              <a:rPr lang="de-DE" sz="2400" b="1" dirty="0" err="1">
                <a:solidFill>
                  <a:schemeClr val="accent1"/>
                </a:solidFill>
              </a:rPr>
              <a:t>our</a:t>
            </a:r>
            <a:r>
              <a:rPr lang="de-DE" sz="2400" b="1" dirty="0">
                <a:solidFill>
                  <a:schemeClr val="accent1"/>
                </a:solidFill>
              </a:rPr>
              <a:t> </a:t>
            </a:r>
            <a:r>
              <a:rPr lang="de-DE" sz="2400" b="1" dirty="0" err="1">
                <a:solidFill>
                  <a:schemeClr val="accent1"/>
                </a:solidFill>
              </a:rPr>
              <a:t>previous</a:t>
            </a:r>
            <a:r>
              <a:rPr lang="de-DE" sz="2400" b="1" dirty="0">
                <a:solidFill>
                  <a:schemeClr val="accent1"/>
                </a:solidFill>
              </a:rPr>
              <a:t> </a:t>
            </a:r>
            <a:r>
              <a:rPr lang="de-DE" sz="2400" b="1" dirty="0" err="1">
                <a:solidFill>
                  <a:schemeClr val="accent1"/>
                </a:solidFill>
              </a:rPr>
              <a:t>meetings</a:t>
            </a:r>
            <a:r>
              <a:rPr lang="de-DE" sz="2400" b="1" dirty="0">
                <a:solidFill>
                  <a:schemeClr val="accent1"/>
                </a:solidFill>
              </a:rPr>
              <a:t>: </a:t>
            </a:r>
            <a:r>
              <a:rPr lang="de-DE" sz="2400" b="1" dirty="0" err="1">
                <a:solidFill>
                  <a:schemeClr val="accent1"/>
                </a:solidFill>
              </a:rPr>
              <a:t>we</a:t>
            </a:r>
            <a:r>
              <a:rPr lang="de-DE" sz="2400" b="1" dirty="0">
                <a:solidFill>
                  <a:schemeClr val="accent1"/>
                </a:solidFill>
              </a:rPr>
              <a:t> </a:t>
            </a:r>
            <a:r>
              <a:rPr lang="de-DE" sz="2400" b="1" dirty="0" err="1">
                <a:solidFill>
                  <a:schemeClr val="accent1"/>
                </a:solidFill>
              </a:rPr>
              <a:t>decided</a:t>
            </a:r>
            <a:r>
              <a:rPr lang="de-DE" sz="2400" b="1" dirty="0">
                <a:solidFill>
                  <a:schemeClr val="accent1"/>
                </a:solidFill>
              </a:rPr>
              <a:t>)</a:t>
            </a:r>
            <a:endParaRPr lang="de-DE" sz="2400" b="1" dirty="0"/>
          </a:p>
        </p:txBody>
      </p:sp>
      <p:sp>
        <p:nvSpPr>
          <p:cNvPr id="9" name="Rectangle 8">
            <a:extLst>
              <a:ext uri="{FF2B5EF4-FFF2-40B4-BE49-F238E27FC236}">
                <a16:creationId xmlns:a16="http://schemas.microsoft.com/office/drawing/2014/main" id="{EF8619BD-E1B8-4ADE-B7ED-322133FD6CC0}"/>
              </a:ext>
            </a:extLst>
          </p:cNvPr>
          <p:cNvSpPr/>
          <p:nvPr/>
        </p:nvSpPr>
        <p:spPr>
          <a:xfrm>
            <a:off x="783706" y="1140719"/>
            <a:ext cx="10031030" cy="2246769"/>
          </a:xfrm>
          <a:prstGeom prst="rect">
            <a:avLst/>
          </a:prstGeom>
        </p:spPr>
        <p:txBody>
          <a:bodyPr wrap="square">
            <a:spAutoFit/>
          </a:bodyPr>
          <a:lstStyle/>
          <a:p>
            <a:pPr marL="285750" indent="-285750">
              <a:buFont typeface="Arial" panose="020B0604020202020204" pitchFamily="34" charset="0"/>
              <a:buChar char="•"/>
            </a:pPr>
            <a:r>
              <a:rPr lang="de-DE" dirty="0" err="1"/>
              <a:t>To</a:t>
            </a:r>
            <a:r>
              <a:rPr lang="de-DE" dirty="0"/>
              <a:t> </a:t>
            </a:r>
            <a:r>
              <a:rPr lang="de-DE" dirty="0" err="1"/>
              <a:t>facilate</a:t>
            </a:r>
            <a:r>
              <a:rPr lang="de-DE" dirty="0"/>
              <a:t> </a:t>
            </a:r>
            <a:r>
              <a:rPr lang="de-DE" dirty="0" err="1"/>
              <a:t>the</a:t>
            </a:r>
            <a:r>
              <a:rPr lang="de-DE" dirty="0"/>
              <a:t> </a:t>
            </a:r>
            <a:r>
              <a:rPr lang="de-DE" dirty="0" err="1"/>
              <a:t>cross-platform</a:t>
            </a:r>
            <a:r>
              <a:rPr lang="de-DE" dirty="0"/>
              <a:t> </a:t>
            </a:r>
            <a:r>
              <a:rPr lang="de-DE" dirty="0" err="1"/>
              <a:t>data</a:t>
            </a:r>
            <a:r>
              <a:rPr lang="de-DE" dirty="0"/>
              <a:t> </a:t>
            </a:r>
            <a:r>
              <a:rPr lang="de-DE" dirty="0" err="1"/>
              <a:t>migration</a:t>
            </a:r>
            <a:r>
              <a:rPr lang="de-DE" dirty="0"/>
              <a:t> and </a:t>
            </a:r>
            <a:r>
              <a:rPr lang="de-DE" dirty="0" err="1"/>
              <a:t>compatibility</a:t>
            </a:r>
            <a:r>
              <a:rPr lang="de-DE" dirty="0"/>
              <a:t>, a </a:t>
            </a:r>
            <a:r>
              <a:rPr lang="de-DE" b="1" dirty="0"/>
              <a:t>MySQL</a:t>
            </a:r>
            <a:r>
              <a:rPr lang="de-DE" dirty="0"/>
              <a:t> </a:t>
            </a:r>
            <a:r>
              <a:rPr lang="de-DE" dirty="0" err="1"/>
              <a:t>version</a:t>
            </a:r>
            <a:r>
              <a:rPr lang="de-DE" dirty="0"/>
              <a:t> </a:t>
            </a:r>
            <a:r>
              <a:rPr lang="de-DE" dirty="0" err="1"/>
              <a:t>of</a:t>
            </a:r>
            <a:r>
              <a:rPr lang="de-DE" dirty="0"/>
              <a:t> </a:t>
            </a:r>
            <a:r>
              <a:rPr lang="de-DE" dirty="0" err="1"/>
              <a:t>the</a:t>
            </a:r>
            <a:r>
              <a:rPr lang="de-DE" dirty="0"/>
              <a:t> CREATE TABLE </a:t>
            </a:r>
            <a:r>
              <a:rPr lang="de-DE" dirty="0" err="1"/>
              <a:t>schema</a:t>
            </a:r>
            <a:r>
              <a:rPr lang="de-DE" dirty="0"/>
              <a:t> was also </a:t>
            </a:r>
            <a:r>
              <a:rPr lang="de-DE" dirty="0" err="1"/>
              <a:t>developed</a:t>
            </a:r>
            <a:r>
              <a:rPr lang="de-DE" dirty="0"/>
              <a:t> </a:t>
            </a:r>
            <a:r>
              <a:rPr lang="de-DE" dirty="0" err="1"/>
              <a:t>based</a:t>
            </a:r>
            <a:r>
              <a:rPr lang="de-DE" dirty="0"/>
              <a:t> on </a:t>
            </a:r>
            <a:r>
              <a:rPr lang="de-DE" dirty="0" err="1"/>
              <a:t>the</a:t>
            </a:r>
            <a:r>
              <a:rPr lang="de-DE" dirty="0"/>
              <a:t> original PostgreSQL </a:t>
            </a:r>
            <a:r>
              <a:rPr lang="de-DE" dirty="0" err="1"/>
              <a:t>implementation</a:t>
            </a:r>
            <a:r>
              <a:rPr lang="de-DE" dirty="0"/>
              <a:t>. This </a:t>
            </a:r>
            <a:r>
              <a:rPr lang="de-DE" dirty="0" err="1"/>
              <a:t>should</a:t>
            </a:r>
            <a:r>
              <a:rPr lang="de-DE" dirty="0"/>
              <a:t> support </a:t>
            </a:r>
            <a:r>
              <a:rPr lang="de-DE" dirty="0" err="1"/>
              <a:t>broader</a:t>
            </a:r>
            <a:r>
              <a:rPr lang="de-DE" dirty="0"/>
              <a:t> </a:t>
            </a:r>
            <a:r>
              <a:rPr lang="de-DE" dirty="0" err="1"/>
              <a:t>deployment</a:t>
            </a:r>
            <a:r>
              <a:rPr lang="de-DE" dirty="0"/>
              <a:t> </a:t>
            </a:r>
            <a:r>
              <a:rPr lang="de-DE" dirty="0" err="1"/>
              <a:t>situations</a:t>
            </a:r>
            <a:r>
              <a:rPr lang="de-DE" dirty="0"/>
              <a:t> in </a:t>
            </a:r>
            <a:r>
              <a:rPr lang="de-DE" dirty="0" err="1"/>
              <a:t>the</a:t>
            </a:r>
            <a:r>
              <a:rPr lang="de-DE" dirty="0"/>
              <a:t> </a:t>
            </a:r>
            <a:r>
              <a:rPr lang="de-DE" dirty="0" err="1"/>
              <a:t>future</a:t>
            </a:r>
            <a:r>
              <a:rPr lang="de-DE" dirty="0"/>
              <a:t>. </a:t>
            </a:r>
            <a:br>
              <a:rPr lang="de-DE" dirty="0"/>
            </a:br>
            <a:endParaRPr lang="de-DE" dirty="0"/>
          </a:p>
          <a:p>
            <a:pPr marL="285750" indent="-285750">
              <a:buFont typeface="Arial" panose="020B0604020202020204" pitchFamily="34" charset="0"/>
              <a:buChar char="•"/>
            </a:pPr>
            <a:r>
              <a:rPr lang="de-DE" dirty="0"/>
              <a:t>A SQL </a:t>
            </a:r>
            <a:r>
              <a:rPr lang="de-DE" dirty="0" err="1"/>
              <a:t>lite</a:t>
            </a:r>
            <a:r>
              <a:rPr lang="de-DE" dirty="0"/>
              <a:t> </a:t>
            </a:r>
            <a:r>
              <a:rPr lang="de-DE" dirty="0" err="1"/>
              <a:t>version</a:t>
            </a:r>
            <a:r>
              <a:rPr lang="de-DE" dirty="0"/>
              <a:t> </a:t>
            </a:r>
            <a:r>
              <a:rPr lang="de-DE" dirty="0" err="1"/>
              <a:t>is</a:t>
            </a:r>
            <a:r>
              <a:rPr lang="de-DE" dirty="0"/>
              <a:t> also </a:t>
            </a:r>
            <a:r>
              <a:rPr lang="de-DE" dirty="0" err="1"/>
              <a:t>created</a:t>
            </a:r>
            <a:r>
              <a:rPr lang="de-DE" dirty="0"/>
              <a:t> </a:t>
            </a:r>
            <a:r>
              <a:rPr lang="de-DE" dirty="0" err="1"/>
              <a:t>to</a:t>
            </a:r>
            <a:r>
              <a:rPr lang="de-DE" dirty="0"/>
              <a:t> </a:t>
            </a:r>
            <a:r>
              <a:rPr lang="de-DE" dirty="0" err="1"/>
              <a:t>create</a:t>
            </a:r>
            <a:r>
              <a:rPr lang="de-DE" dirty="0"/>
              <a:t> a pull </a:t>
            </a:r>
            <a:r>
              <a:rPr lang="de-DE" dirty="0" err="1"/>
              <a:t>request</a:t>
            </a:r>
            <a:r>
              <a:rPr lang="de-DE" dirty="0"/>
              <a:t> </a:t>
            </a:r>
            <a:r>
              <a:rPr lang="de-DE" dirty="0" err="1"/>
              <a:t>to</a:t>
            </a:r>
            <a:r>
              <a:rPr lang="de-DE" dirty="0"/>
              <a:t> </a:t>
            </a:r>
            <a:r>
              <a:rPr lang="de-DE" dirty="0" err="1"/>
              <a:t>the</a:t>
            </a:r>
            <a:r>
              <a:rPr lang="de-DE" dirty="0"/>
              <a:t> Public Use File Repository. </a:t>
            </a:r>
          </a:p>
          <a:p>
            <a:pPr marL="285750" indent="-285750">
              <a:buFont typeface="Arial" panose="020B0604020202020204" pitchFamily="34" charset="0"/>
              <a:buChar char="•"/>
            </a:pPr>
            <a:r>
              <a:rPr lang="de-DE" dirty="0"/>
              <a:t>Both </a:t>
            </a:r>
            <a:r>
              <a:rPr lang="de-DE" dirty="0" err="1"/>
              <a:t>schema</a:t>
            </a:r>
            <a:r>
              <a:rPr lang="de-DE" dirty="0"/>
              <a:t> </a:t>
            </a:r>
            <a:r>
              <a:rPr lang="de-DE" dirty="0" err="1"/>
              <a:t>are</a:t>
            </a:r>
            <a:r>
              <a:rPr lang="de-DE" dirty="0"/>
              <a:t> </a:t>
            </a:r>
            <a:r>
              <a:rPr lang="de-DE" dirty="0" err="1"/>
              <a:t>available</a:t>
            </a:r>
            <a:r>
              <a:rPr lang="de-DE" dirty="0"/>
              <a:t> in </a:t>
            </a:r>
            <a:r>
              <a:rPr lang="de-DE" dirty="0" err="1"/>
              <a:t>github</a:t>
            </a:r>
            <a:r>
              <a:rPr lang="de-DE" dirty="0"/>
              <a:t> </a:t>
            </a:r>
            <a:r>
              <a:rPr lang="de-DE" dirty="0" err="1"/>
              <a:t>repository</a:t>
            </a:r>
            <a:r>
              <a:rPr lang="de-DE" dirty="0"/>
              <a:t>! </a:t>
            </a:r>
          </a:p>
          <a:p>
            <a:pPr marL="285750" indent="-285750">
              <a:buFont typeface="Arial" panose="020B0604020202020204" pitchFamily="34" charset="0"/>
              <a:buChar char="•"/>
            </a:pPr>
            <a:endParaRPr lang="de-DE" b="1" dirty="0"/>
          </a:p>
          <a:p>
            <a:pPr marL="285750" indent="-285750">
              <a:buFont typeface="Arial" panose="020B0604020202020204" pitchFamily="34" charset="0"/>
              <a:buChar char="•"/>
            </a:pPr>
            <a:endParaRPr lang="de-DE" sz="1400" dirty="0"/>
          </a:p>
        </p:txBody>
      </p:sp>
      <p:pic>
        <p:nvPicPr>
          <p:cNvPr id="5" name="Picture 4">
            <a:extLst>
              <a:ext uri="{FF2B5EF4-FFF2-40B4-BE49-F238E27FC236}">
                <a16:creationId xmlns:a16="http://schemas.microsoft.com/office/drawing/2014/main" id="{947859FC-16BE-4482-9149-E42C90682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4524" y="3726288"/>
            <a:ext cx="2793833" cy="1934988"/>
          </a:xfrm>
          <a:prstGeom prst="rect">
            <a:avLst/>
          </a:prstGeom>
        </p:spPr>
      </p:pic>
      <p:pic>
        <p:nvPicPr>
          <p:cNvPr id="11" name="Picture 10">
            <a:extLst>
              <a:ext uri="{FF2B5EF4-FFF2-40B4-BE49-F238E27FC236}">
                <a16:creationId xmlns:a16="http://schemas.microsoft.com/office/drawing/2014/main" id="{F4D05F24-209C-4775-9AE5-4BCDD2D775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7101" y="3726288"/>
            <a:ext cx="2046997" cy="2046997"/>
          </a:xfrm>
          <a:prstGeom prst="rect">
            <a:avLst/>
          </a:prstGeom>
        </p:spPr>
      </p:pic>
    </p:spTree>
    <p:extLst>
      <p:ext uri="{BB962C8B-B14F-4D97-AF65-F5344CB8AC3E}">
        <p14:creationId xmlns:p14="http://schemas.microsoft.com/office/powerpoint/2010/main" val="108559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162A217B-ED1C-D84B-8478-63C77FA79618}" type="slidenum">
              <a:rPr lang="de-DE" smtClean="0"/>
              <a:t>3</a:t>
            </a:fld>
            <a:endParaRPr lang="de-DE"/>
          </a:p>
        </p:txBody>
      </p:sp>
      <p:sp>
        <p:nvSpPr>
          <p:cNvPr id="3" name="Rectangle 2">
            <a:extLst>
              <a:ext uri="{FF2B5EF4-FFF2-40B4-BE49-F238E27FC236}">
                <a16:creationId xmlns:a16="http://schemas.microsoft.com/office/drawing/2014/main" id="{0BD6E81D-B552-44F0-AE34-1DF9CCD398A9}"/>
              </a:ext>
            </a:extLst>
          </p:cNvPr>
          <p:cNvSpPr/>
          <p:nvPr/>
        </p:nvSpPr>
        <p:spPr>
          <a:xfrm>
            <a:off x="296778" y="338572"/>
            <a:ext cx="7507705" cy="461665"/>
          </a:xfrm>
          <a:prstGeom prst="rect">
            <a:avLst/>
          </a:prstGeom>
        </p:spPr>
        <p:txBody>
          <a:bodyPr wrap="square">
            <a:spAutoFit/>
          </a:bodyPr>
          <a:lstStyle/>
          <a:p>
            <a:r>
              <a:rPr lang="de-DE" b="1" dirty="0">
                <a:solidFill>
                  <a:schemeClr val="accent1"/>
                </a:solidFill>
              </a:rPr>
              <a:t> </a:t>
            </a:r>
            <a:r>
              <a:rPr lang="de-DE" sz="2400" b="1" dirty="0" err="1">
                <a:solidFill>
                  <a:schemeClr val="accent1"/>
                </a:solidFill>
              </a:rPr>
              <a:t>Aligning</a:t>
            </a:r>
            <a:r>
              <a:rPr lang="de-DE" sz="2400" b="1" dirty="0">
                <a:solidFill>
                  <a:schemeClr val="accent1"/>
                </a:solidFill>
              </a:rPr>
              <a:t> </a:t>
            </a:r>
            <a:r>
              <a:rPr lang="de-DE" sz="2400" b="1" dirty="0" err="1">
                <a:solidFill>
                  <a:schemeClr val="accent1"/>
                </a:solidFill>
              </a:rPr>
              <a:t>into</a:t>
            </a:r>
            <a:r>
              <a:rPr lang="de-DE" sz="2400" b="1" dirty="0">
                <a:solidFill>
                  <a:schemeClr val="accent1"/>
                </a:solidFill>
              </a:rPr>
              <a:t> RKI </a:t>
            </a:r>
            <a:r>
              <a:rPr lang="de-DE" sz="2400" b="1" dirty="0" err="1">
                <a:solidFill>
                  <a:schemeClr val="accent1"/>
                </a:solidFill>
              </a:rPr>
              <a:t>microsoft</a:t>
            </a:r>
            <a:r>
              <a:rPr lang="de-DE" sz="2400" b="1" dirty="0">
                <a:solidFill>
                  <a:schemeClr val="accent1"/>
                </a:solidFill>
              </a:rPr>
              <a:t> Infrastructure</a:t>
            </a:r>
            <a:endParaRPr lang="de-DE" sz="2400" b="1" dirty="0"/>
          </a:p>
        </p:txBody>
      </p:sp>
      <p:sp>
        <p:nvSpPr>
          <p:cNvPr id="5" name="Rectangle 4">
            <a:extLst>
              <a:ext uri="{FF2B5EF4-FFF2-40B4-BE49-F238E27FC236}">
                <a16:creationId xmlns:a16="http://schemas.microsoft.com/office/drawing/2014/main" id="{963637D6-9239-4239-A6A9-ADB6E36BDB69}"/>
              </a:ext>
            </a:extLst>
          </p:cNvPr>
          <p:cNvSpPr/>
          <p:nvPr/>
        </p:nvSpPr>
        <p:spPr>
          <a:xfrm>
            <a:off x="385009" y="906380"/>
            <a:ext cx="10860506" cy="2862322"/>
          </a:xfrm>
          <a:prstGeom prst="rect">
            <a:avLst/>
          </a:prstGeom>
        </p:spPr>
        <p:txBody>
          <a:bodyPr wrap="square">
            <a:spAutoFit/>
          </a:bodyPr>
          <a:lstStyle/>
          <a:p>
            <a:pPr marL="285750" indent="-285750">
              <a:buFont typeface="Arial" panose="020B0604020202020204" pitchFamily="34" charset="0"/>
              <a:buChar char="•"/>
            </a:pPr>
            <a:r>
              <a:rPr lang="en-US" dirty="0"/>
              <a:t>There is not much difference in basic SQL syntax across major relational databases such as </a:t>
            </a:r>
            <a:r>
              <a:rPr lang="en-US" b="1" dirty="0"/>
              <a:t>MySQL</a:t>
            </a:r>
            <a:r>
              <a:rPr lang="en-US" dirty="0"/>
              <a:t>, </a:t>
            </a:r>
            <a:r>
              <a:rPr lang="en-US" b="1" dirty="0"/>
              <a:t>Microsoft SQL Server</a:t>
            </a:r>
            <a:r>
              <a:rPr lang="en-US" dirty="0"/>
              <a:t>, and </a:t>
            </a:r>
            <a:r>
              <a:rPr lang="en-US" b="1" dirty="0"/>
              <a:t>PostgreSQL</a:t>
            </a:r>
            <a:r>
              <a:rPr lang="en-US" dirty="0"/>
              <a:t>, as they all follow standard SQL conventions.</a:t>
            </a:r>
            <a:br>
              <a:rPr lang="en-US" dirty="0"/>
            </a:br>
            <a:endParaRPr lang="de-DE" dirty="0"/>
          </a:p>
          <a:p>
            <a:pPr marL="285750" indent="-285750">
              <a:buFont typeface="Arial" panose="020B0604020202020204" pitchFamily="34" charset="0"/>
              <a:buChar char="•"/>
            </a:pPr>
            <a:r>
              <a:rPr lang="de-DE" dirty="0"/>
              <a:t>SQL Server Express  --- Database </a:t>
            </a:r>
            <a:r>
              <a:rPr lang="de-DE" dirty="0" err="1"/>
              <a:t>engine</a:t>
            </a:r>
            <a:r>
              <a:rPr lang="de-DE" dirty="0"/>
              <a:t> </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SQL Server 2012 Native Client --- (32 &amp; 64 Bit)  --- The OBDC </a:t>
            </a:r>
            <a:r>
              <a:rPr lang="de-DE" dirty="0" err="1"/>
              <a:t>driver</a:t>
            </a:r>
            <a:r>
              <a:rPr lang="de-DE" dirty="0"/>
              <a:t> </a:t>
            </a:r>
            <a:r>
              <a:rPr lang="de-DE" dirty="0" err="1"/>
              <a:t>python</a:t>
            </a:r>
            <a:r>
              <a:rPr lang="de-DE" dirty="0"/>
              <a:t> (via </a:t>
            </a:r>
            <a:r>
              <a:rPr lang="de-DE" dirty="0" err="1"/>
              <a:t>pyobc</a:t>
            </a:r>
            <a:r>
              <a:rPr lang="de-DE" dirty="0"/>
              <a:t>) will </a:t>
            </a:r>
            <a:r>
              <a:rPr lang="de-DE" dirty="0" err="1"/>
              <a:t>use</a:t>
            </a:r>
            <a:r>
              <a:rPr lang="de-DE" dirty="0"/>
              <a:t> </a:t>
            </a:r>
            <a:r>
              <a:rPr lang="de-DE" dirty="0" err="1"/>
              <a:t>to</a:t>
            </a:r>
            <a:r>
              <a:rPr lang="de-DE" dirty="0"/>
              <a:t> connect </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r>
              <a:rPr lang="de-DE" dirty="0"/>
              <a:t>SQL Server Management Studio 18 ---- The GUI </a:t>
            </a:r>
            <a:r>
              <a:rPr lang="de-DE" dirty="0" err="1"/>
              <a:t>to</a:t>
            </a:r>
            <a:r>
              <a:rPr lang="de-DE" dirty="0"/>
              <a:t> </a:t>
            </a:r>
            <a:r>
              <a:rPr lang="de-DE" dirty="0" err="1"/>
              <a:t>view</a:t>
            </a:r>
            <a:r>
              <a:rPr lang="de-DE" dirty="0"/>
              <a:t> </a:t>
            </a:r>
            <a:r>
              <a:rPr lang="de-DE" dirty="0" err="1"/>
              <a:t>your</a:t>
            </a:r>
            <a:r>
              <a:rPr lang="de-DE" dirty="0"/>
              <a:t> </a:t>
            </a:r>
            <a:r>
              <a:rPr lang="de-DE" dirty="0" err="1"/>
              <a:t>tables</a:t>
            </a:r>
            <a:r>
              <a:rPr lang="de-DE" dirty="0"/>
              <a:t>, </a:t>
            </a:r>
            <a:r>
              <a:rPr lang="de-DE" dirty="0" err="1"/>
              <a:t>run</a:t>
            </a:r>
            <a:r>
              <a:rPr lang="de-DE" dirty="0"/>
              <a:t> </a:t>
            </a:r>
            <a:r>
              <a:rPr lang="de-DE" dirty="0" err="1"/>
              <a:t>queries</a:t>
            </a:r>
            <a:r>
              <a:rPr lang="de-DE" dirty="0"/>
              <a:t>, and </a:t>
            </a:r>
            <a:r>
              <a:rPr lang="de-DE" dirty="0" err="1"/>
              <a:t>debug</a:t>
            </a:r>
            <a:r>
              <a:rPr lang="de-DE" dirty="0"/>
              <a:t> </a:t>
            </a:r>
            <a:r>
              <a:rPr lang="de-DE" dirty="0" err="1"/>
              <a:t>visually</a:t>
            </a:r>
            <a:r>
              <a:rPr lang="de-DE" dirty="0"/>
              <a:t>. </a:t>
            </a:r>
          </a:p>
          <a:p>
            <a:pPr marL="285750" indent="-285750">
              <a:buFont typeface="Arial" panose="020B0604020202020204" pitchFamily="34" charset="0"/>
              <a:buChar char="•"/>
            </a:pPr>
            <a:endParaRPr lang="de-DE" dirty="0"/>
          </a:p>
          <a:p>
            <a:endParaRPr lang="de-DE" dirty="0"/>
          </a:p>
        </p:txBody>
      </p:sp>
      <p:pic>
        <p:nvPicPr>
          <p:cNvPr id="7" name="Picture 6">
            <a:extLst>
              <a:ext uri="{FF2B5EF4-FFF2-40B4-BE49-F238E27FC236}">
                <a16:creationId xmlns:a16="http://schemas.microsoft.com/office/drawing/2014/main" id="{A3FE4117-9F10-41EB-B5B9-38E012FA5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855" y="3628626"/>
            <a:ext cx="3533775" cy="1295400"/>
          </a:xfrm>
          <a:prstGeom prst="rect">
            <a:avLst/>
          </a:prstGeom>
        </p:spPr>
      </p:pic>
      <p:pic>
        <p:nvPicPr>
          <p:cNvPr id="9" name="Picture 8">
            <a:extLst>
              <a:ext uri="{FF2B5EF4-FFF2-40B4-BE49-F238E27FC236}">
                <a16:creationId xmlns:a16="http://schemas.microsoft.com/office/drawing/2014/main" id="{455E948A-3F0A-457B-9392-2AEA6D1A7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6248" y="3701902"/>
            <a:ext cx="2971800" cy="1543050"/>
          </a:xfrm>
          <a:prstGeom prst="rect">
            <a:avLst/>
          </a:prstGeom>
        </p:spPr>
      </p:pic>
      <p:pic>
        <p:nvPicPr>
          <p:cNvPr id="11" name="Picture 10">
            <a:extLst>
              <a:ext uri="{FF2B5EF4-FFF2-40B4-BE49-F238E27FC236}">
                <a16:creationId xmlns:a16="http://schemas.microsoft.com/office/drawing/2014/main" id="{EF5C1434-B875-448A-B5AE-57564A39FA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1945" y="3628626"/>
            <a:ext cx="2743200" cy="1689603"/>
          </a:xfrm>
          <a:prstGeom prst="rect">
            <a:avLst/>
          </a:prstGeom>
        </p:spPr>
      </p:pic>
    </p:spTree>
    <p:extLst>
      <p:ext uri="{BB962C8B-B14F-4D97-AF65-F5344CB8AC3E}">
        <p14:creationId xmlns:p14="http://schemas.microsoft.com/office/powerpoint/2010/main" val="359964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162A217B-ED1C-D84B-8478-63C77FA79618}" type="slidenum">
              <a:rPr lang="de-DE" smtClean="0"/>
              <a:t>4</a:t>
            </a:fld>
            <a:endParaRPr lang="de-DE"/>
          </a:p>
        </p:txBody>
      </p:sp>
      <p:sp>
        <p:nvSpPr>
          <p:cNvPr id="7" name="Rectangle 6">
            <a:extLst>
              <a:ext uri="{FF2B5EF4-FFF2-40B4-BE49-F238E27FC236}">
                <a16:creationId xmlns:a16="http://schemas.microsoft.com/office/drawing/2014/main" id="{27C42873-C512-4EF3-BC63-72EC1C9E5BB7}"/>
              </a:ext>
            </a:extLst>
          </p:cNvPr>
          <p:cNvSpPr/>
          <p:nvPr/>
        </p:nvSpPr>
        <p:spPr>
          <a:xfrm>
            <a:off x="296778" y="338572"/>
            <a:ext cx="7507705" cy="461665"/>
          </a:xfrm>
          <a:prstGeom prst="rect">
            <a:avLst/>
          </a:prstGeom>
        </p:spPr>
        <p:txBody>
          <a:bodyPr wrap="square">
            <a:spAutoFit/>
          </a:bodyPr>
          <a:lstStyle/>
          <a:p>
            <a:r>
              <a:rPr lang="de-DE" sz="2400" b="1" dirty="0">
                <a:solidFill>
                  <a:schemeClr val="accent1"/>
                </a:solidFill>
              </a:rPr>
              <a:t> Key Updates and Goals: </a:t>
            </a:r>
            <a:endParaRPr lang="de-DE" sz="2400" b="1" dirty="0"/>
          </a:p>
        </p:txBody>
      </p:sp>
      <p:sp>
        <p:nvSpPr>
          <p:cNvPr id="9" name="Rectangle 8">
            <a:extLst>
              <a:ext uri="{FF2B5EF4-FFF2-40B4-BE49-F238E27FC236}">
                <a16:creationId xmlns:a16="http://schemas.microsoft.com/office/drawing/2014/main" id="{A5B5541F-2CD4-4179-B106-EAFADB0C5E78}"/>
              </a:ext>
            </a:extLst>
          </p:cNvPr>
          <p:cNvSpPr/>
          <p:nvPr/>
        </p:nvSpPr>
        <p:spPr>
          <a:xfrm>
            <a:off x="296778" y="1041194"/>
            <a:ext cx="11392459" cy="4524315"/>
          </a:xfrm>
          <a:prstGeom prst="rect">
            <a:avLst/>
          </a:prstGeom>
        </p:spPr>
        <p:txBody>
          <a:bodyPr wrap="square">
            <a:spAutoFit/>
          </a:bodyPr>
          <a:lstStyle/>
          <a:p>
            <a:pPr marL="285750" indent="-285750">
              <a:buFont typeface="Arial" panose="020B0604020202020204" pitchFamily="34" charset="0"/>
              <a:buChar char="•"/>
            </a:pPr>
            <a:r>
              <a:rPr lang="en-US" dirty="0"/>
              <a:t>Given that the master thesis is closely aligned with the FG34 team’s expertise on the underlying ‘PrEP Surv’ study, it would be appropriate to structure the database within the existing SQL environment under the prod11 umbrella, specifically linked to the HIV project framework. </a:t>
            </a:r>
            <a:br>
              <a:rPr lang="en-US" dirty="0"/>
            </a:br>
            <a:endParaRPr lang="en-US" dirty="0"/>
          </a:p>
          <a:p>
            <a:pPr marL="285750" indent="-285750">
              <a:buFont typeface="Arial" panose="020B0604020202020204" pitchFamily="34" charset="0"/>
              <a:buChar char="•"/>
            </a:pPr>
            <a:r>
              <a:rPr lang="en-US" dirty="0"/>
              <a:t> DM3 SQL schema for the Microsoft  SQL has been created. Both for the creating 17 TABLES and supplementary 2 CATALOGUE TABLES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Next: Incorporate condition-specific enrichment (e.g., HIV-focused) into the seeder logic, with supporting utilities (e.g., </a:t>
            </a:r>
            <a:r>
              <a:rPr lang="en-US" dirty="0" err="1"/>
              <a:t>db_utils</a:t>
            </a:r>
            <a:r>
              <a:rPr lang="en-US" dirty="0"/>
              <a:t>) and documentation based on implementation-layer insights.</a:t>
            </a:r>
            <a:br>
              <a:rPr lang="en-US" dirty="0"/>
            </a:br>
            <a:endParaRPr lang="en-US" dirty="0"/>
          </a:p>
          <a:p>
            <a:pPr marL="285750" indent="-285750">
              <a:buFont typeface="Arial" panose="020B0604020202020204" pitchFamily="34" charset="0"/>
              <a:buChar char="•"/>
            </a:pPr>
            <a:r>
              <a:rPr lang="en-US" dirty="0"/>
              <a:t>IT Ticket in the Service Portal for the following software mentioned. </a:t>
            </a:r>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de-DE" dirty="0"/>
          </a:p>
        </p:txBody>
      </p:sp>
    </p:spTree>
    <p:extLst>
      <p:ext uri="{BB962C8B-B14F-4D97-AF65-F5344CB8AC3E}">
        <p14:creationId xmlns:p14="http://schemas.microsoft.com/office/powerpoint/2010/main" val="3630393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ＭＳ 明朝</vt:lpstr>
      <vt:lpstr>Office Theme</vt:lpstr>
      <vt:lpstr>Master Thesis: CORE Pipeline Updates RKI-Linked Database Integration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Thesis: CORE Pipeline Updates RKI-Linked Database Integration</dc:title>
  <dc:creator>Thothathri, Gokul</dc:creator>
  <cp:lastModifiedBy>Thothathri, Gokul</cp:lastModifiedBy>
  <cp:revision>14</cp:revision>
  <dcterms:created xsi:type="dcterms:W3CDTF">2025-06-17T13:12:18Z</dcterms:created>
  <dcterms:modified xsi:type="dcterms:W3CDTF">2025-06-18T10:32:14Z</dcterms:modified>
</cp:coreProperties>
</file>