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0" r:id="rId3"/>
    <p:sldId id="271" r:id="rId4"/>
    <p:sldId id="272" r:id="rId5"/>
    <p:sldId id="256" r:id="rId6"/>
    <p:sldId id="268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9286-CCC6-4B75-B7A2-6C9548657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E44A0-060C-46D4-A535-CBC3FC8A8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27D75-48E1-4BFF-B296-3A497153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31417-E52E-42EF-9FB1-6E5D82DF1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5DADB-61B5-44F6-A89A-F51E1245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831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7958-32FC-4334-95A5-898F8D0E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965E-A51F-4271-801A-CFDCF1AEE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8444F-B0D7-498C-A21C-4FA8A063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ADFD-189F-4853-97F6-DB4F9F5D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AE69-9CDE-4A04-9C58-1195CAAF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582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3D6F-E313-44FC-895B-B4BF9F5D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DEF1B-D402-4131-87EB-9C05A12A1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3246A-1534-4CD8-8D09-F60B97534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26DB6-F34F-4961-8276-41C485C5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70574-91CF-46AA-8EFF-7D54E5D5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49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D757-60A9-42F9-9D71-2EC648A1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F494-F63E-4A1A-8686-29D7BEF7D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60D20-E118-4596-B7CE-4D7A2D8F8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2C511-9415-48D2-A6C6-2D5511CE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09527-6A8B-4CE5-BCE9-501E8EDF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459A9-6035-49C4-A8BF-A5BF6920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33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E3D6-042E-41DF-A2BE-C23472B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1B5D1-F49C-4C60-AEE7-AB1CC9C56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48A06-79D1-4387-B898-AE7AB7F34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00827-C8B3-4659-8C81-A2E7956B1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8C2A0-766F-466E-A49E-E9A0575BD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69F63-C293-4CDE-8CF2-C4155084E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3A1A0-C2D2-4E32-9FCE-85ABFC72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7F92F-3DD7-418D-8832-9529C1A6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140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1960-F81B-4965-8D78-86208FD1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9A313-70DE-45D8-B430-1B663128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04E62-FC44-4362-B04C-7C2DD2F3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8E521-988E-4B9F-9C75-744F00FD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898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6063-49A0-4175-9464-A80690CB3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52E78-6FB1-4FF6-92BB-932651A7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91F8B-3C00-423C-B8E5-8BB0137FB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846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7FFFA-236A-4896-8382-512EE42A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3283-5F43-494D-A5AB-DFD33D07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CB7EE-7F02-47AD-9DCA-A263FABF7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A2D65-8778-4F60-AB65-94019EA8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8F1ED-71A7-44A7-B399-0739A5C2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CAC5-E286-48A2-976F-87A8008B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961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4D5A-F073-42CF-8EA6-359FBF42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D6F40-D976-421A-9FFC-57F840840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DD1B5-4206-4E88-8728-EAA824873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56A6B-BBF4-43FD-9022-77877CF7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764A5-CF63-46A7-BFEF-7EF68229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41D88-5648-4D6C-B215-5DC4B060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680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6B08-7774-4EF1-B88F-2FE3975F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40410-BDEE-4B7A-A877-F84F8AAFB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1D1B-6300-4C00-AE99-A609C8FA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6450A-2C40-4B4E-B9F4-D76514DD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172CA-21B4-4DDE-B099-23A47639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64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F37AF-87D7-4A53-9CB2-6A8D05C28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C6DB8-97A9-43D5-911F-3943D1F01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CCD82-9A96-4FF8-B9A4-568E575F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65E2A-CA2C-49DF-ABC9-AB78A3B2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B74CF-C823-41F6-A1F8-EF46420F9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8681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3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252000" tIns="234000" rIns="648000" bIns="45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200"/>
              </a:lnSpc>
              <a:spcAft>
                <a:spcPts val="600"/>
              </a:spcAft>
            </a:pPr>
            <a:endParaRPr lang="de-DE" sz="2800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2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2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:ma14="http://schemas.microsoft.com/office/mac/drawingml/2011/main" xmlns=""/>
            </a:ext>
            <a:ext uri="{C572A759-6A51-4108-AA02-DFA0A04FC94B}">
              <ma14:wrappingTextBoxFlag xmlns:ma14="http://schemas.microsoft.com/office/mac/drawingml/2011/main" xmlns="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6" y="6176547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1" name="Rechteck 10"/>
          <p:cNvSpPr/>
          <p:nvPr userDrawn="1"/>
        </p:nvSpPr>
        <p:spPr>
          <a:xfrm>
            <a:off x="119532" y="6290237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1" y="2267308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200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9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rgbClr val="FFFFFF"/>
                </a:solidFill>
              </a:defRPr>
            </a:lvl2pPr>
            <a:lvl3pPr marL="914378" indent="0">
              <a:buNone/>
              <a:defRPr>
                <a:solidFill>
                  <a:srgbClr val="FFFFFF"/>
                </a:solidFill>
              </a:defRPr>
            </a:lvl3pPr>
            <a:lvl4pPr marL="1371566" indent="0">
              <a:buNone/>
              <a:defRPr>
                <a:solidFill>
                  <a:srgbClr val="FFFFFF"/>
                </a:solidFill>
              </a:defRPr>
            </a:lvl4pPr>
            <a:lvl5pPr marL="1828754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86720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3144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27EB3A-B5C4-4C18-B0B6-60266C4D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50A6-EF77-414E-B69D-89D53FF98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F5E2E-D826-4024-8B70-C7A58A54B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34EF1-7DAC-455F-9FDB-7C17B3F9A044}" type="datetimeFigureOut">
              <a:rPr lang="de-DE" smtClean="0"/>
              <a:t>20.05.2025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958FF-4F3F-436E-B24D-1D653CB13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0B74B-5C5B-4B0E-8419-72A21BD05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2604F-CEB4-42F2-8F25-AB1E11AA54D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469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farm.de/SharedDocs/Downloads/DE/Kodiersysteme/klassifikationen/icd-10-gm/version2025/icd10gm2025syst-meta_zip.html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BACKEND PROGRESS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5459999" y="3678295"/>
            <a:ext cx="4503737" cy="741702"/>
          </a:xfrm>
        </p:spPr>
        <p:txBody>
          <a:bodyPr/>
          <a:lstStyle/>
          <a:p>
            <a:r>
              <a:rPr lang="de-DE" dirty="0"/>
              <a:t>Gokul Thothathri 21.05.2025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</a:t>
            </a:fld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770CD-F170-40EF-BFD9-CA8BA69097FD}"/>
              </a:ext>
            </a:extLst>
          </p:cNvPr>
          <p:cNvSpPr/>
          <p:nvPr/>
        </p:nvSpPr>
        <p:spPr>
          <a:xfrm>
            <a:off x="282804" y="2411311"/>
            <a:ext cx="118212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PostgreSQL Data Seeder for FDZ Database Simulation (FDZ/DM3)</a:t>
            </a:r>
            <a:endParaRPr lang="de-DE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4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solidFill>
                  <a:schemeClr val="accent1"/>
                </a:solidFill>
              </a:rPr>
              <a:t>Simulating</a:t>
            </a:r>
            <a:r>
              <a:rPr lang="de-DE" sz="2400" b="1" dirty="0">
                <a:solidFill>
                  <a:schemeClr val="accent1"/>
                </a:solidFill>
              </a:rPr>
              <a:t> ICD-10 Codes via: </a:t>
            </a:r>
            <a:r>
              <a:rPr lang="de-DE" sz="2400" b="1" dirty="0">
                <a:hlinkClick r:id="rId2"/>
              </a:rPr>
              <a:t>ICD-10 –GM 2025 </a:t>
            </a:r>
            <a:r>
              <a:rPr lang="de-DE" sz="2400" b="1" dirty="0" err="1">
                <a:hlinkClick r:id="rId2"/>
              </a:rPr>
              <a:t>Metadata</a:t>
            </a:r>
            <a:r>
              <a:rPr lang="de-DE" sz="2400" b="1" dirty="0">
                <a:hlinkClick r:id="rId2"/>
              </a:rPr>
              <a:t> TXT (CSV) </a:t>
            </a:r>
            <a:endParaRPr lang="de-DE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65BFB-E7AF-4A99-BBE0-6781B94DCBC7}"/>
              </a:ext>
            </a:extLst>
          </p:cNvPr>
          <p:cNvSpPr/>
          <p:nvPr/>
        </p:nvSpPr>
        <p:spPr>
          <a:xfrm>
            <a:off x="863916" y="1036446"/>
            <a:ext cx="1003103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ICD-10 GM License &amp; Catalogue Integration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 via The BfArM „Download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conditions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ICD- 10 - GM“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>
                <a:solidFill>
                  <a:schemeClr val="accent1"/>
                </a:solidFill>
              </a:rPr>
              <a:t>Legal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 </a:t>
            </a:r>
            <a:r>
              <a:rPr lang="en-US" b="1" dirty="0"/>
              <a:t>ICD-10-GM is an „</a:t>
            </a:r>
            <a:r>
              <a:rPr lang="en-US" b="1" dirty="0" err="1"/>
              <a:t>anderes</a:t>
            </a:r>
            <a:r>
              <a:rPr lang="en-US" b="1" dirty="0"/>
              <a:t> </a:t>
            </a:r>
            <a:r>
              <a:rPr lang="en-US" b="1" dirty="0" err="1"/>
              <a:t>amtliches</a:t>
            </a:r>
            <a:r>
              <a:rPr lang="en-US" b="1" dirty="0"/>
              <a:t> </a:t>
            </a:r>
            <a:r>
              <a:rPr lang="en-US" b="1" dirty="0" err="1"/>
              <a:t>Werk</a:t>
            </a:r>
            <a:r>
              <a:rPr lang="en-US" b="1" dirty="0"/>
              <a:t>“ under § 5 (2) </a:t>
            </a:r>
            <a:r>
              <a:rPr lang="en-US" b="1" dirty="0" err="1"/>
              <a:t>UrhG</a:t>
            </a:r>
            <a:r>
              <a:rPr lang="en-US" b="1" dirty="0"/>
              <a:t> → no copyright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Free </a:t>
            </a:r>
            <a:r>
              <a:rPr lang="de-DE" dirty="0" err="1"/>
              <a:t>downloadable</a:t>
            </a:r>
            <a:r>
              <a:rPr lang="de-DE" dirty="0"/>
              <a:t> &amp; Internal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BfArM Downloadbedingungen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Forbidden</a:t>
            </a:r>
            <a:r>
              <a:rPr lang="de-DE" dirty="0"/>
              <a:t>: Alter Code Strings &amp; </a:t>
            </a:r>
            <a:r>
              <a:rPr lang="de-DE" dirty="0" err="1"/>
              <a:t>their</a:t>
            </a:r>
            <a:r>
              <a:rPr lang="de-DE" dirty="0"/>
              <a:t> Wordings, </a:t>
            </a:r>
            <a:r>
              <a:rPr lang="de-DE" dirty="0" err="1"/>
              <a:t>Redistribute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and </a:t>
            </a:r>
            <a:r>
              <a:rPr lang="de-DE" dirty="0" err="1"/>
              <a:t>unmodified</a:t>
            </a:r>
            <a:r>
              <a:rPr lang="de-DE" dirty="0"/>
              <a:t> </a:t>
            </a:r>
            <a:r>
              <a:rPr lang="de-DE" dirty="0" err="1"/>
              <a:t>catalogue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anonymization</a:t>
            </a:r>
            <a:r>
              <a:rPr lang="de-DE" dirty="0"/>
              <a:t> (</a:t>
            </a:r>
            <a:r>
              <a:rPr lang="de-DE" dirty="0" err="1"/>
              <a:t>removing</a:t>
            </a:r>
            <a:r>
              <a:rPr lang="de-DE" dirty="0"/>
              <a:t> </a:t>
            </a:r>
            <a:r>
              <a:rPr lang="de-DE" dirty="0" err="1"/>
              <a:t>dot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fine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FDZ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schema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752DF8-97EF-4DF9-80D9-35AFCFCCE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859" y="3429000"/>
            <a:ext cx="6275144" cy="27079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3F6AE5-B6C5-4960-BE56-55B508E57026}"/>
              </a:ext>
            </a:extLst>
          </p:cNvPr>
          <p:cNvSpPr/>
          <p:nvPr/>
        </p:nvSpPr>
        <p:spPr>
          <a:xfrm>
            <a:off x="3953551" y="6506031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“ICD-10-GM 2024, machine-readable version, © </a:t>
            </a:r>
            <a:r>
              <a:rPr lang="en-US" sz="800" dirty="0" err="1"/>
              <a:t>BfArM</a:t>
            </a:r>
            <a:r>
              <a:rPr lang="en-US" sz="800" dirty="0"/>
              <a:t>, downloaded 19 May 2025.”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630393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Implementation in </a:t>
            </a:r>
            <a:r>
              <a:rPr lang="de-DE" sz="2400" b="1" dirty="0" err="1">
                <a:solidFill>
                  <a:schemeClr val="accent1"/>
                </a:solidFill>
              </a:rPr>
              <a:t>the</a:t>
            </a:r>
            <a:r>
              <a:rPr lang="de-DE" sz="2400" b="1" dirty="0">
                <a:solidFill>
                  <a:schemeClr val="accent1"/>
                </a:solidFill>
              </a:rPr>
              <a:t> CORE </a:t>
            </a:r>
            <a:r>
              <a:rPr lang="de-DE" sz="2400" b="1" dirty="0" err="1">
                <a:solidFill>
                  <a:schemeClr val="accent1"/>
                </a:solidFill>
              </a:rPr>
              <a:t>pipeline</a:t>
            </a:r>
            <a:r>
              <a:rPr lang="de-DE" sz="2400" b="1" dirty="0">
                <a:solidFill>
                  <a:schemeClr val="accent1"/>
                </a:solidFill>
              </a:rPr>
              <a:t>: </a:t>
            </a:r>
            <a:r>
              <a:rPr lang="de-DE" sz="2400" b="1" dirty="0" err="1">
                <a:solidFill>
                  <a:schemeClr val="accent1"/>
                </a:solidFill>
              </a:rPr>
              <a:t>Sustainable</a:t>
            </a:r>
            <a:r>
              <a:rPr lang="de-DE" sz="2400" b="1" dirty="0">
                <a:solidFill>
                  <a:schemeClr val="accent1"/>
                </a:solidFill>
              </a:rPr>
              <a:t> ICD </a:t>
            </a:r>
            <a:r>
              <a:rPr lang="de-DE" sz="2400" b="1" dirty="0" err="1">
                <a:solidFill>
                  <a:schemeClr val="accent1"/>
                </a:solidFill>
              </a:rPr>
              <a:t>compliance</a:t>
            </a:r>
            <a:endParaRPr lang="de-D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619BD-E1B8-4ADE-B7ED-322133FD6CC0}"/>
              </a:ext>
            </a:extLst>
          </p:cNvPr>
          <p:cNvSpPr/>
          <p:nvPr/>
        </p:nvSpPr>
        <p:spPr>
          <a:xfrm>
            <a:off x="863916" y="1036446"/>
            <a:ext cx="100310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Load </a:t>
            </a:r>
            <a:r>
              <a:rPr lang="de-DE" sz="1400" dirty="0"/>
              <a:t>icd10gm2024syst_kodes.txt </a:t>
            </a:r>
            <a:r>
              <a:rPr lang="de-DE" dirty="0"/>
              <a:t>in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schema</a:t>
            </a:r>
            <a:r>
              <a:rPr lang="de-DE" dirty="0"/>
              <a:t> (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in </a:t>
            </a:r>
            <a:r>
              <a:rPr lang="de-DE" dirty="0" err="1"/>
              <a:t>prosgres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)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Preprocess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(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header</a:t>
            </a:r>
            <a:r>
              <a:rPr lang="de-DE" dirty="0"/>
              <a:t>) and </a:t>
            </a:r>
            <a:r>
              <a:rPr lang="de-DE" dirty="0" err="1"/>
              <a:t>remove</a:t>
            </a:r>
            <a:r>
              <a:rPr lang="de-DE" dirty="0"/>
              <a:t> </a:t>
            </a:r>
            <a:r>
              <a:rPr lang="de-DE" dirty="0" err="1"/>
              <a:t>dots</a:t>
            </a:r>
            <a:r>
              <a:rPr lang="de-DE" dirty="0"/>
              <a:t> (</a:t>
            </a:r>
            <a:r>
              <a:rPr lang="de-DE" dirty="0" err="1"/>
              <a:t>allowed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ICD-10 BfArm </a:t>
            </a:r>
            <a:r>
              <a:rPr lang="de-DE" dirty="0" err="1"/>
              <a:t>guidelines</a:t>
            </a:r>
            <a:r>
              <a:rPr lang="de-DE" dirty="0"/>
              <a:t>)</a:t>
            </a:r>
            <a:br>
              <a:rPr lang="de-DE" dirty="0"/>
            </a:b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Seed in </a:t>
            </a:r>
            <a:r>
              <a:rPr lang="de-DE" dirty="0" err="1"/>
              <a:t>the</a:t>
            </a:r>
            <a:r>
              <a:rPr lang="de-DE" dirty="0"/>
              <a:t> PostgreSQL Data Seeder (FDZ DM3)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forbidden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upload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/>
              <a:t>TXT </a:t>
            </a:r>
            <a:r>
              <a:rPr lang="de-DE" b="1" dirty="0" err="1"/>
              <a:t>file</a:t>
            </a:r>
            <a:r>
              <a:rPr lang="de-DE" b="1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project‘s</a:t>
            </a:r>
            <a:r>
              <a:rPr lang="de-DE" dirty="0"/>
              <a:t> </a:t>
            </a:r>
            <a:r>
              <a:rPr lang="de-DE" b="1" dirty="0" err="1"/>
              <a:t>postgreSQL</a:t>
            </a:r>
            <a:r>
              <a:rPr lang="de-DE" b="1" dirty="0"/>
              <a:t> (</a:t>
            </a:r>
            <a:r>
              <a:rPr lang="de-DE" b="1" dirty="0" err="1"/>
              <a:t>with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ICD-10 </a:t>
            </a:r>
            <a:r>
              <a:rPr lang="de-DE" b="1" dirty="0" err="1"/>
              <a:t>schema</a:t>
            </a:r>
            <a:r>
              <a:rPr lang="de-DE" b="1" dirty="0"/>
              <a:t>) </a:t>
            </a:r>
            <a:r>
              <a:rPr lang="de-DE" dirty="0"/>
              <a:t>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repository</a:t>
            </a:r>
            <a:r>
              <a:rPr lang="de-DE" b="1" dirty="0"/>
              <a:t>, </a:t>
            </a:r>
            <a:r>
              <a:rPr lang="de-DE" dirty="0"/>
              <a:t>so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uploading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database</a:t>
            </a:r>
            <a:r>
              <a:rPr lang="de-DE" dirty="0"/>
              <a:t> in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repo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/>
              <a:t>ICD-10 </a:t>
            </a:r>
            <a:r>
              <a:rPr lang="de-DE" b="1" dirty="0" err="1"/>
              <a:t>catalogue</a:t>
            </a:r>
            <a:r>
              <a:rPr lang="de-DE" dirty="0"/>
              <a:t>. The </a:t>
            </a:r>
            <a:r>
              <a:rPr lang="de-DE" dirty="0" err="1"/>
              <a:t>procedure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pipeline</a:t>
            </a:r>
            <a:r>
              <a:rPr lang="de-DE" dirty="0"/>
              <a:t> will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technical</a:t>
            </a:r>
            <a:r>
              <a:rPr lang="de-DE" dirty="0"/>
              <a:t> </a:t>
            </a:r>
            <a:r>
              <a:rPr lang="de-DE" dirty="0" err="1"/>
              <a:t>backlog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instructions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supplementary</a:t>
            </a:r>
            <a:r>
              <a:rPr lang="de-DE" dirty="0"/>
              <a:t> </a:t>
            </a:r>
            <a:r>
              <a:rPr lang="de-DE" dirty="0" err="1"/>
              <a:t>section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thesis</a:t>
            </a:r>
            <a:r>
              <a:rPr lang="de-DE" dirty="0"/>
              <a:t> and Readme.md </a:t>
            </a:r>
            <a:r>
              <a:rPr lang="de-DE" dirty="0" err="1"/>
              <a:t>file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repository</a:t>
            </a:r>
            <a:r>
              <a:rPr lang="de-DE" dirty="0"/>
              <a:t>. </a:t>
            </a:r>
            <a:br>
              <a:rPr lang="de-DE" dirty="0"/>
            </a:br>
            <a:br>
              <a:rPr lang="de-DE" dirty="0"/>
            </a:br>
            <a:r>
              <a:rPr lang="de-DE" b="1" dirty="0"/>
              <a:t>Compliance Checklist </a:t>
            </a:r>
            <a:r>
              <a:rPr lang="de-DE" b="1" dirty="0" err="1"/>
              <a:t>for</a:t>
            </a:r>
            <a:r>
              <a:rPr lang="de-DE" b="1" dirty="0"/>
              <a:t> ICD -10 </a:t>
            </a:r>
            <a:br>
              <a:rPr lang="de-DE" b="1" dirty="0"/>
            </a:br>
            <a:br>
              <a:rPr lang="de-DE" b="1" dirty="0"/>
            </a:br>
            <a:r>
              <a:rPr lang="de-DE" b="1" dirty="0"/>
              <a:t>1. </a:t>
            </a:r>
            <a:r>
              <a:rPr lang="de-DE" b="1" dirty="0" err="1"/>
              <a:t>Dotless</a:t>
            </a:r>
            <a:r>
              <a:rPr lang="de-DE" b="1" dirty="0"/>
              <a:t> variant </a:t>
            </a:r>
            <a:r>
              <a:rPr lang="de-DE" b="1" dirty="0" err="1"/>
              <a:t>is</a:t>
            </a:r>
            <a:r>
              <a:rPr lang="de-DE" b="1" dirty="0"/>
              <a:t> reversible and </a:t>
            </a:r>
            <a:r>
              <a:rPr lang="de-DE" b="1" dirty="0" err="1"/>
              <a:t>allowed</a:t>
            </a:r>
            <a:r>
              <a:rPr lang="de-DE" b="1" dirty="0"/>
              <a:t>.</a:t>
            </a:r>
          </a:p>
          <a:p>
            <a:r>
              <a:rPr lang="de-DE" b="1" dirty="0"/>
              <a:t>      2. Source </a:t>
            </a:r>
            <a:r>
              <a:rPr lang="de-DE" b="1" dirty="0" err="1"/>
              <a:t>credited</a:t>
            </a:r>
            <a:r>
              <a:rPr lang="de-DE" b="1" dirty="0"/>
              <a:t> on </a:t>
            </a:r>
            <a:r>
              <a:rPr lang="de-DE" b="1" dirty="0" err="1"/>
              <a:t>every</a:t>
            </a:r>
            <a:r>
              <a:rPr lang="de-DE" b="1" dirty="0"/>
              <a:t> </a:t>
            </a:r>
            <a:r>
              <a:rPr lang="de-DE" b="1" dirty="0" err="1"/>
              <a:t>published</a:t>
            </a:r>
            <a:r>
              <a:rPr lang="de-DE" b="1" dirty="0"/>
              <a:t> </a:t>
            </a:r>
            <a:r>
              <a:rPr lang="de-DE" b="1" dirty="0" err="1"/>
              <a:t>artefact</a:t>
            </a:r>
            <a:r>
              <a:rPr lang="de-DE" b="1" dirty="0"/>
              <a:t>. </a:t>
            </a:r>
            <a:br>
              <a:rPr lang="de-DE" b="1" dirty="0"/>
            </a:br>
            <a:r>
              <a:rPr lang="de-DE" b="1" dirty="0"/>
              <a:t>      3. Raw CSV </a:t>
            </a:r>
            <a:r>
              <a:rPr lang="de-DE" b="1" dirty="0" err="1"/>
              <a:t>with</a:t>
            </a:r>
            <a:r>
              <a:rPr lang="de-DE" b="1" dirty="0"/>
              <a:t> ICD-10 </a:t>
            </a:r>
            <a:r>
              <a:rPr lang="de-DE" b="1" dirty="0" err="1"/>
              <a:t>codes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</a:t>
            </a:r>
            <a:r>
              <a:rPr lang="de-DE" b="1" dirty="0" err="1"/>
              <a:t>remains</a:t>
            </a:r>
            <a:r>
              <a:rPr lang="de-DE" b="1" dirty="0"/>
              <a:t> internal; </a:t>
            </a:r>
            <a:r>
              <a:rPr lang="de-DE" b="1" dirty="0" err="1"/>
              <a:t>only</a:t>
            </a:r>
            <a:r>
              <a:rPr lang="de-DE" b="1" dirty="0"/>
              <a:t> </a:t>
            </a:r>
            <a:r>
              <a:rPr lang="de-DE" b="1" dirty="0" err="1"/>
              <a:t>derived</a:t>
            </a:r>
            <a:r>
              <a:rPr lang="de-DE" b="1" dirty="0"/>
              <a:t> </a:t>
            </a:r>
            <a:r>
              <a:rPr lang="de-DE" b="1" dirty="0" err="1"/>
              <a:t>tables</a:t>
            </a:r>
            <a:r>
              <a:rPr lang="de-DE" b="1" dirty="0"/>
              <a:t>/</a:t>
            </a:r>
            <a:r>
              <a:rPr lang="de-DE" b="1" dirty="0" err="1"/>
              <a:t>scripts</a:t>
            </a:r>
            <a:r>
              <a:rPr lang="de-DE" b="1" dirty="0"/>
              <a:t> </a:t>
            </a:r>
            <a:r>
              <a:rPr lang="de-DE" b="1" dirty="0" err="1"/>
              <a:t>shared</a:t>
            </a:r>
            <a:r>
              <a:rPr lang="de-DE" b="1" dirty="0"/>
              <a:t>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665B9-1824-4F15-AEEA-DCC1B5CA1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2577" y="3933065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DE9EF4-B41D-4934-BB05-BA772B40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890" y="685798"/>
            <a:ext cx="4234318" cy="54864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00519B-8874-4859-84C8-ED7006A35E4A}"/>
              </a:ext>
            </a:extLst>
          </p:cNvPr>
          <p:cNvSpPr/>
          <p:nvPr/>
        </p:nvSpPr>
        <p:spPr>
          <a:xfrm>
            <a:off x="4092217" y="6500882"/>
            <a:ext cx="36086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/>
              <a:t>https://github.com/FDZ-Gesundheit/Public-Use-File/pull/16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0A1E2D-4FA9-4FDB-AD69-FCF38FC64386}"/>
              </a:ext>
            </a:extLst>
          </p:cNvPr>
          <p:cNvSpPr/>
          <p:nvPr/>
        </p:nvSpPr>
        <p:spPr>
          <a:xfrm>
            <a:off x="802792" y="250566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 Solution </a:t>
            </a:r>
            <a:r>
              <a:rPr lang="de-DE" b="1" dirty="0" err="1">
                <a:solidFill>
                  <a:srgbClr val="FF0000"/>
                </a:solidFill>
              </a:rPr>
              <a:t>to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missing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data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types</a:t>
            </a:r>
            <a:r>
              <a:rPr lang="de-DE" b="1" dirty="0">
                <a:solidFill>
                  <a:srgbClr val="FF0000"/>
                </a:solidFill>
              </a:rPr>
              <a:t>; but not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descriptions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for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headers</a:t>
            </a:r>
            <a:r>
              <a:rPr lang="de-DE" b="1" dirty="0">
                <a:solidFill>
                  <a:srgbClr val="FF0000"/>
                </a:solidFill>
              </a:rPr>
              <a:t> (not </a:t>
            </a:r>
            <a:r>
              <a:rPr lang="de-DE" b="1" dirty="0" err="1">
                <a:solidFill>
                  <a:srgbClr val="FF0000"/>
                </a:solidFill>
              </a:rPr>
              <a:t>available</a:t>
            </a:r>
            <a:r>
              <a:rPr lang="de-DE" b="1" dirty="0">
                <a:solidFill>
                  <a:srgbClr val="FF0000"/>
                </a:solidFill>
              </a:rPr>
              <a:t> in </a:t>
            </a:r>
            <a:r>
              <a:rPr lang="de-DE" b="1" dirty="0" err="1">
                <a:solidFill>
                  <a:srgbClr val="FF0000"/>
                </a:solidFill>
              </a:rPr>
              <a:t>the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Health_dataLab</a:t>
            </a:r>
            <a:r>
              <a:rPr lang="de-DE" b="1" dirty="0">
                <a:solidFill>
                  <a:srgbClr val="FF0000"/>
                </a:solidFill>
              </a:rPr>
              <a:t> variable </a:t>
            </a:r>
            <a:r>
              <a:rPr lang="de-DE" b="1" dirty="0" err="1">
                <a:solidFill>
                  <a:srgbClr val="FF0000"/>
                </a:solidFill>
              </a:rPr>
              <a:t>description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file</a:t>
            </a:r>
            <a:r>
              <a:rPr lang="de-DE" b="1" dirty="0">
                <a:solidFill>
                  <a:srgbClr val="FF0000"/>
                </a:solidFill>
              </a:rPr>
              <a:t>)  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30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ZAHNBEF  (Dental </a:t>
            </a:r>
            <a:r>
              <a:rPr lang="de-DE" sz="2400" b="1" dirty="0" err="1">
                <a:solidFill>
                  <a:schemeClr val="accent1"/>
                </a:solidFill>
              </a:rPr>
              <a:t>Findings</a:t>
            </a:r>
            <a:r>
              <a:rPr lang="de-DE" sz="2400" b="1" dirty="0">
                <a:solidFill>
                  <a:schemeClr val="accent1"/>
                </a:solidFill>
              </a:rPr>
              <a:t> /</a:t>
            </a:r>
            <a:r>
              <a:rPr lang="de-DE" sz="2400" b="1" dirty="0" err="1">
                <a:solidFill>
                  <a:schemeClr val="accent1"/>
                </a:solidFill>
              </a:rPr>
              <a:t>Diagnostic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Assesment</a:t>
            </a:r>
            <a:r>
              <a:rPr lang="de-DE" sz="2400" b="1" dirty="0">
                <a:solidFill>
                  <a:schemeClr val="accent1"/>
                </a:solidFill>
              </a:rPr>
              <a:t>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5B336E-3B84-44D6-BAF6-06587AF3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66" y="977479"/>
            <a:ext cx="9008368" cy="52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4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7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ZAHNFALL  (Dental Case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2A3A6-ECF3-4252-8BA9-90073C0A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14" y="1095313"/>
            <a:ext cx="8339386" cy="499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5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8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ZAHNLEIST  (Dental Service Line Items)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08911-42A9-46FD-9504-41F975E73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833075"/>
            <a:ext cx="11383964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3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9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AMBLEIST  (Outpatient Service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9A39E-EE57-4D17-B92D-305339B72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8" y="853010"/>
            <a:ext cx="10774053" cy="548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8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10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AMBFALL (Outpatient Case Master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3A97C-50D6-493A-8C25-2AE3A789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904522"/>
            <a:ext cx="1121249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57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11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AMBDIAG (Outpatient Diagnosis Data)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E98A1-0756-4A54-80CD-12E8FEB4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975970"/>
            <a:ext cx="11364911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07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12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EZD ( </a:t>
            </a:r>
            <a:r>
              <a:rPr lang="de-DE" sz="2400" b="1" dirty="0" err="1">
                <a:solidFill>
                  <a:schemeClr val="accent1"/>
                </a:solidFill>
              </a:rPr>
              <a:t>Prescription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Supplementary</a:t>
            </a:r>
            <a:r>
              <a:rPr lang="de-DE" sz="2400" b="1" dirty="0">
                <a:solidFill>
                  <a:schemeClr val="accent1"/>
                </a:solidFill>
              </a:rPr>
              <a:t> Data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6AF24-482D-484C-ADA3-F78F4732B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780680"/>
            <a:ext cx="11774543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2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ＭＳ 明朝</vt:lpstr>
      <vt:lpstr>Office Theme</vt:lpstr>
      <vt:lpstr>Master Thesis: CORE Pipeline Updates  BACKEND PROGRESS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CORE Pipeline Updates  BACKEND PROGRESS</dc:title>
  <dc:creator>Thothathri, Gokul</dc:creator>
  <cp:lastModifiedBy>Thothathri, Gokul</cp:lastModifiedBy>
  <cp:revision>18</cp:revision>
  <dcterms:created xsi:type="dcterms:W3CDTF">2025-05-20T08:03:02Z</dcterms:created>
  <dcterms:modified xsi:type="dcterms:W3CDTF">2025-05-21T10:13:56Z</dcterms:modified>
</cp:coreProperties>
</file>