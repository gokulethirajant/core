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5" r:id="rId3"/>
    <p:sldId id="270" r:id="rId4"/>
    <p:sldId id="266" r:id="rId5"/>
    <p:sldId id="267" r:id="rId6"/>
    <p:sldId id="268" r:id="rId7"/>
    <p:sldId id="269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0DEA-5265-4136-AB93-C3FE7E191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FBD49-4384-402D-A6D4-124D5E053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1FF4-DDBA-491D-8D71-65B0BE8AC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0260B-2EC4-4B00-BF33-E0F28811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21516-76CF-4FD7-88CF-7D4F7398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2793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BC00-C1A0-48A3-865B-25BB4F5C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39D79-B137-40C1-BF08-796D58A8B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923FB-F027-41FC-8DF4-1D3EA5397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473D5-0FDA-4CA7-9D2F-9D8DAF18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DCD32-FF4F-4AA0-A53E-07F099775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68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BA58-94C2-4BC0-9924-BB08E5B0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D8092-B491-4149-9FDC-2D8A1EF0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87474-0751-4770-A549-0CB08C58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F5917-A181-434C-8D23-14468FF71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F5F11-5F8E-47D8-BA2D-70DEA680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622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A356-3E34-445D-9A18-0FA247DB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B03CF-2535-4763-9751-A2CD250D6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53422-B7F2-4C8F-92B7-CCA902D84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A2054-D6DC-4182-934E-AB3CC3A9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6AAE2-416E-4A6E-822C-23A717382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AD2BB-BC2C-49CB-845C-49F831F4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608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E6411-B61B-4D80-A5C0-9D8990BE6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4D37B-60A3-49CE-9E6E-6F377C410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7F138-C0B4-4319-8412-D73789D7B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DC40C-3EFB-4DE4-9DBD-7AA6D31F3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52FD4-9A74-4917-BA91-5068180B0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B7621-C4DB-4CB5-8C64-6C340642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7E2B9-27E8-4881-86EE-158910B4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B0677-AF41-447D-AC33-8E85D554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166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E271-8F75-40B0-A836-A6EA0E59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61B6E-CD7D-4182-BB4A-C3751FD8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13340-51DE-464C-A1C4-88660128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25FEE-5A89-4EDD-B602-347AE88C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5040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5865D-CC64-473F-A29A-C3942EA6A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E1F84C-2C10-45E9-B2BC-E4F5DA3B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68A5A-83B8-4A94-805D-0A44439C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76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12FB-4CE6-4142-ACDB-C5BFF996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21EF-07DC-47B3-AB09-5F6535DCC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949D0-0E69-49DA-9931-4C434EF57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D464F-2189-48A0-9D4D-EADE74C6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6CC64-B29A-4E24-850D-F10E4C38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CE246-8F3C-44EB-A32F-5A233936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998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DAA2-E8D8-4070-A5B2-F110FCF7A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23E5C-D716-4483-8054-D80F4E5A7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A9C72-72BA-451A-961C-248D3D2D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7EAEA-FDD9-49F9-880E-4AB01501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68F5C-FC9B-46AE-B306-216471FE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AF4B8-3944-44F4-8AC4-9BDBE3A5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36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0C5E-B1CF-444E-ADAE-0E38C4F45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EB20A-648E-4C0A-A335-E7DF93DA9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C4372-7F71-4C68-92FD-93B0CAA4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94C3E-13D6-4641-B127-082F8928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3CD6B-07D3-4AA2-9686-75D95D1C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461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538205-EC29-4729-B85E-C430B270B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32EF8-58FA-40DD-AE3A-6CB04B0C0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C57E6-1C47-4726-8059-675D44EE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DB3D2-D73B-4006-9076-7C0A2A04D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B4453-CA59-4093-953A-5A3AA24D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656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_Standard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PPT_Background_16zu9_RGB_NEU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875"/>
            <a:ext cx="11663680" cy="4356608"/>
          </a:xfrm>
          <a:prstGeom prst="rect">
            <a:avLst/>
          </a:prstGeom>
        </p:spPr>
      </p:pic>
      <p:sp>
        <p:nvSpPr>
          <p:cNvPr id="21" name="Textfeld 20"/>
          <p:cNvSpPr txBox="1"/>
          <p:nvPr userDrawn="1"/>
        </p:nvSpPr>
        <p:spPr>
          <a:xfrm>
            <a:off x="4832469" y="2264793"/>
            <a:ext cx="7359531" cy="2678579"/>
          </a:xfrm>
          <a:prstGeom prst="rect">
            <a:avLst/>
          </a:prstGeom>
          <a:solidFill>
            <a:srgbClr val="4D8AD2"/>
          </a:solidFill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252000" tIns="234000" rIns="648000" bIns="45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ts val="1200"/>
              </a:lnSpc>
              <a:spcAft>
                <a:spcPts val="600"/>
              </a:spcAft>
            </a:pPr>
            <a:endParaRPr lang="de-DE" sz="2800" dirty="0">
              <a:solidFill>
                <a:srgbClr val="FFFFFF"/>
              </a:solidFill>
              <a:effectLst/>
              <a:latin typeface="Calibri"/>
              <a:ea typeface="ＭＳ 明朝"/>
              <a:cs typeface="Calibri"/>
            </a:endParaRPr>
          </a:p>
        </p:txBody>
      </p:sp>
      <p:cxnSp>
        <p:nvCxnSpPr>
          <p:cNvPr id="23" name="Gerade Verbindung 22"/>
          <p:cNvCxnSpPr/>
          <p:nvPr userDrawn="1"/>
        </p:nvCxnSpPr>
        <p:spPr>
          <a:xfrm>
            <a:off x="5246520" y="2015662"/>
            <a:ext cx="0" cy="316041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/>
          <p:cNvCxnSpPr/>
          <p:nvPr userDrawn="1"/>
        </p:nvCxnSpPr>
        <p:spPr>
          <a:xfrm>
            <a:off x="11252979" y="2009672"/>
            <a:ext cx="0" cy="3166401"/>
          </a:xfrm>
          <a:prstGeom prst="line">
            <a:avLst/>
          </a:prstGeom>
          <a:ln>
            <a:solidFill>
              <a:schemeClr val="bg1"/>
            </a:solidFill>
          </a:ln>
          <a:effectLst/>
          <a:extLst>
            <a:ext uri="{FAA26D3D-D897-4be2-8F04-BA451C77F1D7}">
              <ma14:placeholderFlag xmlns="" xmlns:ma14="http://schemas.microsoft.com/office/mac/drawingml/2011/main"/>
            </a:ext>
            <a:ext uri="{C572A759-6A51-4108-AA02-DFA0A04FC94B}">
              <ma14:wrappingTextBoxFlag xmlns="" xmlns:ma14="http://schemas.microsoft.com/office/mac/drawingml/2011/main"/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Rechteck 14"/>
          <p:cNvSpPr/>
          <p:nvPr userDrawn="1"/>
        </p:nvSpPr>
        <p:spPr>
          <a:xfrm>
            <a:off x="3294136" y="6176547"/>
            <a:ext cx="1677635" cy="681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3000" dir="5400000" rotWithShape="0">
              <a:schemeClr val="bg1"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1" name="Rechteck 10"/>
          <p:cNvSpPr/>
          <p:nvPr userDrawn="1"/>
        </p:nvSpPr>
        <p:spPr>
          <a:xfrm>
            <a:off x="119532" y="6290237"/>
            <a:ext cx="11545089" cy="5677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>
          <a:xfrm>
            <a:off x="5246521" y="2267308"/>
            <a:ext cx="6006459" cy="1687127"/>
          </a:xfrm>
        </p:spPr>
        <p:txBody>
          <a:bodyPr lIns="252000" tIns="108000" rIns="252000" bIns="108000" anchor="t" anchorCtr="0">
            <a:noAutofit/>
          </a:bodyPr>
          <a:lstStyle>
            <a:lvl1pPr algn="l">
              <a:defRPr sz="2200" b="1" i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 bearbeiten</a:t>
            </a:r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4"/>
          </p:nvPr>
        </p:nvSpPr>
        <p:spPr>
          <a:xfrm>
            <a:off x="5247219" y="3954433"/>
            <a:ext cx="6004983" cy="988936"/>
          </a:xfrm>
        </p:spPr>
        <p:txBody>
          <a:bodyPr lIns="252000" tIns="108000" rIns="252000" bIns="144000" anchor="b" anchorCtr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rgbClr val="FFFFFF"/>
                </a:solidFill>
              </a:defRPr>
            </a:lvl2pPr>
            <a:lvl3pPr marL="914378" indent="0">
              <a:buNone/>
              <a:defRPr>
                <a:solidFill>
                  <a:srgbClr val="FFFFFF"/>
                </a:solidFill>
              </a:defRPr>
            </a:lvl3pPr>
            <a:lvl4pPr marL="1371566" indent="0">
              <a:buNone/>
              <a:defRPr>
                <a:solidFill>
                  <a:srgbClr val="FFFFFF"/>
                </a:solidFill>
              </a:defRPr>
            </a:lvl4pPr>
            <a:lvl5pPr marL="1828754" indent="0"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2805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02.11.15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Lorem ipsum dolor sit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3"/>
          </p:nvPr>
        </p:nvSpPr>
        <p:spPr>
          <a:xfrm>
            <a:off x="609600" y="1412777"/>
            <a:ext cx="5177227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sz="quarter" idx="14"/>
          </p:nvPr>
        </p:nvSpPr>
        <p:spPr>
          <a:xfrm>
            <a:off x="6106834" y="1412777"/>
            <a:ext cx="5147628" cy="502188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09600" y="918943"/>
            <a:ext cx="10644861" cy="6093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5744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7C9445-4CC7-4EF6-8D91-8CC896F2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35824-08A8-4E7E-B3E8-AF2CD275B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1324-EED5-4C07-A052-13363C00A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7B0E1-7B2D-48D6-8176-F7422B37730A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1BDCF-492C-4CF6-ACB8-3D1DAAD9F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38459-9CA5-4793-9978-63D7E5A7D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B4FE9-79AE-4A3F-9874-0A5B75AAC68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388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Master Thesis: CORE Pipeline Updates</a:t>
            </a:r>
            <a:br>
              <a:rPr lang="de-DE" dirty="0"/>
            </a:br>
            <a:br>
              <a:rPr lang="de-DE" dirty="0"/>
            </a:br>
            <a:r>
              <a:rPr lang="de-DE" dirty="0"/>
              <a:t>BACKEND PROGRESS</a:t>
            </a:r>
            <a:br>
              <a:rPr lang="de-DE" dirty="0"/>
            </a:b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5459999" y="3678295"/>
            <a:ext cx="4503737" cy="741702"/>
          </a:xfrm>
        </p:spPr>
        <p:txBody>
          <a:bodyPr/>
          <a:lstStyle/>
          <a:p>
            <a:r>
              <a:rPr lang="de-DE" dirty="0"/>
              <a:t>Gokul Thothathri 07.05.2025</a:t>
            </a:r>
          </a:p>
        </p:txBody>
      </p:sp>
    </p:spTree>
    <p:extLst>
      <p:ext uri="{BB962C8B-B14F-4D97-AF65-F5344CB8AC3E}">
        <p14:creationId xmlns:p14="http://schemas.microsoft.com/office/powerpoint/2010/main" val="391611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2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Clinical Table Descriptions and Relevance for PrEP</a:t>
            </a:r>
            <a:endParaRPr lang="de-DE" sz="2400" b="1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059F7-EDFA-417A-BCCF-228ACC090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847364"/>
            <a:ext cx="10345594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9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3</a:t>
            </a:fld>
            <a:endParaRPr 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8770CD-F170-40EF-BFD9-CA8BA69097FD}"/>
              </a:ext>
            </a:extLst>
          </p:cNvPr>
          <p:cNvSpPr/>
          <p:nvPr/>
        </p:nvSpPr>
        <p:spPr>
          <a:xfrm>
            <a:off x="282804" y="2643921"/>
            <a:ext cx="118212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PostgreSQL Data Seeder for Public Use File Simulation (FDZ/DM3)</a:t>
            </a:r>
            <a:endParaRPr lang="de-DE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64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4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VERS  (</a:t>
            </a:r>
            <a:r>
              <a:rPr lang="de-DE" sz="2400" b="1" dirty="0" err="1">
                <a:solidFill>
                  <a:schemeClr val="accent1"/>
                </a:solidFill>
              </a:rPr>
              <a:t>Insured</a:t>
            </a:r>
            <a:r>
              <a:rPr lang="de-DE" sz="2400" b="1" dirty="0">
                <a:solidFill>
                  <a:schemeClr val="accent1"/>
                </a:solidFill>
              </a:rPr>
              <a:t> Person Master Data) </a:t>
            </a:r>
          </a:p>
        </p:txBody>
      </p:sp>
      <p:pic>
        <p:nvPicPr>
          <p:cNvPr id="5" name="image3.png">
            <a:extLst>
              <a:ext uri="{FF2B5EF4-FFF2-40B4-BE49-F238E27FC236}">
                <a16:creationId xmlns:a16="http://schemas.microsoft.com/office/drawing/2014/main" id="{6B84D4D0-82FC-4859-AB25-F6E61F8EDEA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07009" y="1084082"/>
            <a:ext cx="10859679" cy="5194170"/>
          </a:xfrm>
          <a:prstGeom prst="rect">
            <a:avLst/>
          </a:prstGeom>
          <a:ln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24A3DE8-87F4-4174-B7EF-CA59CBAEB101}"/>
              </a:ext>
            </a:extLst>
          </p:cNvPr>
          <p:cNvSpPr/>
          <p:nvPr/>
        </p:nvSpPr>
        <p:spPr>
          <a:xfrm>
            <a:off x="3581401" y="6430241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</p:spTree>
    <p:extLst>
      <p:ext uri="{BB962C8B-B14F-4D97-AF65-F5344CB8AC3E}">
        <p14:creationId xmlns:p14="http://schemas.microsoft.com/office/powerpoint/2010/main" val="148491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5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6938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VERSQ  (</a:t>
            </a:r>
            <a:r>
              <a:rPr lang="de-DE" sz="2400" b="1" dirty="0" err="1">
                <a:solidFill>
                  <a:schemeClr val="accent1"/>
                </a:solidFill>
              </a:rPr>
              <a:t>Insured</a:t>
            </a:r>
            <a:r>
              <a:rPr lang="de-DE" sz="2400" b="1" dirty="0">
                <a:solidFill>
                  <a:schemeClr val="accent1"/>
                </a:solidFill>
              </a:rPr>
              <a:t> Data Per </a:t>
            </a:r>
            <a:r>
              <a:rPr lang="de-DE" sz="2400" b="1" dirty="0" err="1">
                <a:solidFill>
                  <a:schemeClr val="accent1"/>
                </a:solidFill>
              </a:rPr>
              <a:t>Quarter</a:t>
            </a:r>
            <a:r>
              <a:rPr lang="de-DE" sz="2400" b="1" dirty="0">
                <a:solidFill>
                  <a:schemeClr val="accent1"/>
                </a:solidFill>
              </a:rPr>
              <a:t>)</a:t>
            </a:r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90DB5911-C167-47A2-BCBF-2759337190C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88157" y="1008669"/>
            <a:ext cx="10793690" cy="5128180"/>
          </a:xfrm>
          <a:prstGeom prst="rect">
            <a:avLst/>
          </a:prstGeom>
          <a:ln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916042-FD6B-4AD9-89A0-708166391FBE}"/>
              </a:ext>
            </a:extLst>
          </p:cNvPr>
          <p:cNvSpPr/>
          <p:nvPr/>
        </p:nvSpPr>
        <p:spPr>
          <a:xfrm>
            <a:off x="3732915" y="6311851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</p:spTree>
    <p:extLst>
      <p:ext uri="{BB962C8B-B14F-4D97-AF65-F5344CB8AC3E}">
        <p14:creationId xmlns:p14="http://schemas.microsoft.com/office/powerpoint/2010/main" val="100491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6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F9585-5342-493C-B820-FACC1AA5B9E5}"/>
              </a:ext>
            </a:extLst>
          </p:cNvPr>
          <p:cNvSpPr txBox="1"/>
          <p:nvPr/>
        </p:nvSpPr>
        <p:spPr>
          <a:xfrm>
            <a:off x="575035" y="400279"/>
            <a:ext cx="8436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VERSQDMP  (Disease Management </a:t>
            </a:r>
            <a:r>
              <a:rPr lang="de-DE" sz="2400" b="1" dirty="0" err="1">
                <a:solidFill>
                  <a:schemeClr val="accent1"/>
                </a:solidFill>
              </a:rPr>
              <a:t>Program</a:t>
            </a:r>
            <a:r>
              <a:rPr lang="de-DE" sz="2400" b="1" dirty="0">
                <a:solidFill>
                  <a:schemeClr val="accent1"/>
                </a:solidFill>
              </a:rPr>
              <a:t> </a:t>
            </a:r>
            <a:r>
              <a:rPr lang="de-DE" sz="2400" b="1" dirty="0" err="1">
                <a:solidFill>
                  <a:schemeClr val="accent1"/>
                </a:solidFill>
              </a:rPr>
              <a:t>Participation</a:t>
            </a:r>
            <a:r>
              <a:rPr lang="de-DE" sz="2400" b="1" dirty="0">
                <a:solidFill>
                  <a:schemeClr val="accent1"/>
                </a:solidFill>
              </a:rPr>
              <a:t>)</a:t>
            </a:r>
          </a:p>
        </p:txBody>
      </p:sp>
      <p:pic>
        <p:nvPicPr>
          <p:cNvPr id="5" name="image4.png">
            <a:extLst>
              <a:ext uri="{FF2B5EF4-FFF2-40B4-BE49-F238E27FC236}">
                <a16:creationId xmlns:a16="http://schemas.microsoft.com/office/drawing/2014/main" id="{2D9EA04D-9BEA-4E3B-BE86-74905AA633A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41023" y="1084081"/>
            <a:ext cx="10878532" cy="5118755"/>
          </a:xfrm>
          <a:prstGeom prst="rect">
            <a:avLst/>
          </a:prstGeom>
          <a:ln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0F75D4-B452-4100-B1C2-C0FC64DB4457}"/>
              </a:ext>
            </a:extLst>
          </p:cNvPr>
          <p:cNvSpPr/>
          <p:nvPr/>
        </p:nvSpPr>
        <p:spPr>
          <a:xfrm>
            <a:off x="3439113" y="6340134"/>
            <a:ext cx="5216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https://github.com/gokulethirajanT/CORE/tree/class1</a:t>
            </a:r>
          </a:p>
        </p:txBody>
      </p:sp>
    </p:spTree>
    <p:extLst>
      <p:ext uri="{BB962C8B-B14F-4D97-AF65-F5344CB8AC3E}">
        <p14:creationId xmlns:p14="http://schemas.microsoft.com/office/powerpoint/2010/main" val="119764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7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Source </a:t>
            </a:r>
            <a:r>
              <a:rPr lang="de-DE" sz="2400" b="1" dirty="0" err="1">
                <a:solidFill>
                  <a:schemeClr val="accent1"/>
                </a:solidFill>
              </a:rPr>
              <a:t>of</a:t>
            </a:r>
            <a:r>
              <a:rPr lang="de-DE" sz="2400" b="1" dirty="0">
                <a:solidFill>
                  <a:schemeClr val="accent1"/>
                </a:solidFill>
              </a:rPr>
              <a:t> Truth: FDZ Variable </a:t>
            </a:r>
            <a:r>
              <a:rPr lang="de-DE" sz="2400" b="1" dirty="0" err="1">
                <a:solidFill>
                  <a:schemeClr val="accent1"/>
                </a:solidFill>
              </a:rPr>
              <a:t>Definitions</a:t>
            </a:r>
            <a:r>
              <a:rPr lang="de-DE" sz="2400" b="1" dirty="0">
                <a:solidFill>
                  <a:schemeClr val="accent1"/>
                </a:solidFill>
              </a:rPr>
              <a:t> vs. Schema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65BFB-E7AF-4A99-BBE0-6781B94DCBC7}"/>
              </a:ext>
            </a:extLst>
          </p:cNvPr>
          <p:cNvSpPr/>
          <p:nvPr/>
        </p:nvSpPr>
        <p:spPr>
          <a:xfrm>
            <a:off x="757286" y="1140719"/>
            <a:ext cx="102155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NUMBER</a:t>
            </a:r>
            <a:r>
              <a:rPr lang="de-DE" dirty="0"/>
              <a:t> </a:t>
            </a:r>
            <a:r>
              <a:rPr lang="de-DE" dirty="0" err="1"/>
              <a:t>appears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an </a:t>
            </a:r>
            <a:r>
              <a:rPr lang="de-DE" dirty="0" err="1"/>
              <a:t>unofficial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unintended</a:t>
            </a:r>
            <a:r>
              <a:rPr lang="de-DE" dirty="0"/>
              <a:t> </a:t>
            </a:r>
            <a:r>
              <a:rPr lang="de-DE" dirty="0" err="1"/>
              <a:t>column</a:t>
            </a:r>
            <a:r>
              <a:rPr lang="de-DE" dirty="0"/>
              <a:t> and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reviewed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removed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alignment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FDZ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6F0EC6-2013-4139-A356-E73F39A8E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86" y="2647216"/>
            <a:ext cx="4516442" cy="2198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1E6A76-0B6A-4044-92D3-F3B7E28E4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330" y="3193329"/>
            <a:ext cx="6096000" cy="14896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DC2F57-A414-4449-960F-A1C38782A5EB}"/>
              </a:ext>
            </a:extLst>
          </p:cNvPr>
          <p:cNvSpPr txBox="1"/>
          <p:nvPr/>
        </p:nvSpPr>
        <p:spPr>
          <a:xfrm>
            <a:off x="1932495" y="5241303"/>
            <a:ext cx="265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6"/>
                </a:solidFill>
              </a:rPr>
              <a:t>VERS TABLE SCHEMA: FDZ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D5FA5-46A6-437A-B4D6-2C1E8558F105}"/>
              </a:ext>
            </a:extLst>
          </p:cNvPr>
          <p:cNvSpPr txBox="1"/>
          <p:nvPr/>
        </p:nvSpPr>
        <p:spPr>
          <a:xfrm>
            <a:off x="7222503" y="5293994"/>
            <a:ext cx="4487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VARIABLE DESCRIPTION IN HEALTHDATA_LAB</a:t>
            </a:r>
          </a:p>
        </p:txBody>
      </p:sp>
    </p:spTree>
    <p:extLst>
      <p:ext uri="{BB962C8B-B14F-4D97-AF65-F5344CB8AC3E}">
        <p14:creationId xmlns:p14="http://schemas.microsoft.com/office/powerpoint/2010/main" val="3039998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A217B-ED1C-D84B-8478-63C77FA79618}" type="slidenum">
              <a:rPr lang="de-DE" smtClean="0"/>
              <a:t>8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D87F7-73CE-40FF-956D-ADDE6792EFE5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Source </a:t>
            </a:r>
            <a:r>
              <a:rPr lang="de-DE" sz="2400" b="1" dirty="0" err="1">
                <a:solidFill>
                  <a:schemeClr val="accent1"/>
                </a:solidFill>
              </a:rPr>
              <a:t>of</a:t>
            </a:r>
            <a:r>
              <a:rPr lang="de-DE" sz="2400" b="1" dirty="0">
                <a:solidFill>
                  <a:schemeClr val="accent1"/>
                </a:solidFill>
              </a:rPr>
              <a:t> Truth: FDZ Variable </a:t>
            </a:r>
            <a:r>
              <a:rPr lang="de-DE" sz="2400" b="1" dirty="0" err="1">
                <a:solidFill>
                  <a:schemeClr val="accent1"/>
                </a:solidFill>
              </a:rPr>
              <a:t>Definitions</a:t>
            </a:r>
            <a:r>
              <a:rPr lang="de-DE" sz="2400" b="1" dirty="0">
                <a:solidFill>
                  <a:schemeClr val="accent1"/>
                </a:solidFill>
              </a:rPr>
              <a:t> vs. Schema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A65BFB-E7AF-4A99-BBE0-6781B94DCBC7}"/>
              </a:ext>
            </a:extLst>
          </p:cNvPr>
          <p:cNvSpPr/>
          <p:nvPr/>
        </p:nvSpPr>
        <p:spPr>
          <a:xfrm>
            <a:off x="757286" y="1140719"/>
            <a:ext cx="102155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Definition </a:t>
            </a:r>
            <a:r>
              <a:rPr lang="de-DE" b="1" dirty="0" err="1"/>
              <a:t>Conflict</a:t>
            </a:r>
            <a:r>
              <a:rPr lang="de-DE" b="1" dirty="0"/>
              <a:t>: </a:t>
            </a:r>
            <a:r>
              <a:rPr lang="de-DE" dirty="0"/>
              <a:t>The </a:t>
            </a:r>
            <a:r>
              <a:rPr lang="de-DE" dirty="0" err="1"/>
              <a:t>column</a:t>
            </a:r>
            <a:r>
              <a:rPr lang="de-DE" dirty="0"/>
              <a:t> BNR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FDZ variable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an 8-character </a:t>
            </a:r>
            <a:r>
              <a:rPr lang="de-DE" dirty="0" err="1"/>
              <a:t>alphanumeric</a:t>
            </a:r>
            <a:r>
              <a:rPr lang="de-DE" dirty="0"/>
              <a:t> </a:t>
            </a:r>
            <a:r>
              <a:rPr lang="de-DE" dirty="0" err="1"/>
              <a:t>identifier</a:t>
            </a:r>
            <a:r>
              <a:rPr lang="de-DE" dirty="0"/>
              <a:t> (e.g. „8Z5T1876“),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define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Krankenkasse </a:t>
            </a:r>
            <a:r>
              <a:rPr lang="de-DE" dirty="0" err="1"/>
              <a:t>number</a:t>
            </a:r>
            <a:r>
              <a:rPr lang="de-DE" dirty="0"/>
              <a:t> (</a:t>
            </a:r>
            <a:r>
              <a:rPr lang="de-DE" dirty="0" err="1"/>
              <a:t>insurance</a:t>
            </a:r>
            <a:r>
              <a:rPr lang="de-DE" dirty="0"/>
              <a:t> </a:t>
            </a:r>
            <a:r>
              <a:rPr lang="de-DE" dirty="0" err="1"/>
              <a:t>provider</a:t>
            </a:r>
            <a:r>
              <a:rPr lang="de-DE" dirty="0"/>
              <a:t>) </a:t>
            </a:r>
            <a:r>
              <a:rPr lang="de-DE" dirty="0" err="1"/>
              <a:t>number</a:t>
            </a:r>
            <a:r>
              <a:rPr lang="de-DE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3F9147-AA58-4E29-9D6C-EF783C90C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86" y="2980448"/>
            <a:ext cx="4373121" cy="24965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7B69C8-F386-4EC4-ABBB-6FE06FAD697F}"/>
              </a:ext>
            </a:extLst>
          </p:cNvPr>
          <p:cNvSpPr txBox="1"/>
          <p:nvPr/>
        </p:nvSpPr>
        <p:spPr>
          <a:xfrm>
            <a:off x="1536569" y="5717281"/>
            <a:ext cx="265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6"/>
                </a:solidFill>
              </a:rPr>
              <a:t>VERS TABLE SCHEMA: FDZ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5D24A5-F4F3-43B5-A194-6DB99890E172}"/>
              </a:ext>
            </a:extLst>
          </p:cNvPr>
          <p:cNvSpPr txBox="1"/>
          <p:nvPr/>
        </p:nvSpPr>
        <p:spPr>
          <a:xfrm>
            <a:off x="6298677" y="4025533"/>
            <a:ext cx="5560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NUMBER IS A </a:t>
            </a:r>
            <a:r>
              <a:rPr lang="de-DE" b="1" dirty="0">
                <a:solidFill>
                  <a:srgbClr val="FF0000"/>
                </a:solidFill>
              </a:rPr>
              <a:t>STRICTLY</a:t>
            </a:r>
            <a:r>
              <a:rPr lang="de-DE" b="1" dirty="0"/>
              <a:t> </a:t>
            </a:r>
            <a:r>
              <a:rPr lang="de-DE" b="1" dirty="0">
                <a:solidFill>
                  <a:schemeClr val="accent5">
                    <a:lumMod val="75000"/>
                  </a:schemeClr>
                </a:solidFill>
              </a:rPr>
              <a:t>NUMERICAL</a:t>
            </a:r>
            <a:r>
              <a:rPr lang="de-DE" b="1" dirty="0"/>
              <a:t> SCHEMA, DOES NOT SUPPORT ALPHANUMERIC</a:t>
            </a:r>
            <a:br>
              <a:rPr lang="de-DE" b="1" dirty="0"/>
            </a:br>
            <a:r>
              <a:rPr lang="de-DE" b="1" dirty="0"/>
              <a:t>CHARACTERS; BETTER SCHEMA IS TEXT OR VARCHAR(8)</a:t>
            </a:r>
          </a:p>
        </p:txBody>
      </p:sp>
    </p:spTree>
    <p:extLst>
      <p:ext uri="{BB962C8B-B14F-4D97-AF65-F5344CB8AC3E}">
        <p14:creationId xmlns:p14="http://schemas.microsoft.com/office/powerpoint/2010/main" val="363039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A0C94E-F301-4FE0-A2ED-285A0C217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392" y="367645"/>
            <a:ext cx="4056751" cy="58493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5CAD83-4506-425B-92A1-95E4CCF6E185}"/>
              </a:ext>
            </a:extLst>
          </p:cNvPr>
          <p:cNvSpPr/>
          <p:nvPr/>
        </p:nvSpPr>
        <p:spPr>
          <a:xfrm>
            <a:off x="1121161" y="28665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b="1" dirty="0">
                <a:solidFill>
                  <a:schemeClr val="accent1"/>
                </a:solidFill>
              </a:rPr>
              <a:t>THINK OF ER DIAGRAMS AS A RELATIONAL VIEW, NOT A EXHAUSTIVE SYSTEM SCHEMA</a:t>
            </a:r>
            <a:endParaRPr lang="de-DE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62C93-025A-449A-A790-E0052379AFC6}"/>
              </a:ext>
            </a:extLst>
          </p:cNvPr>
          <p:cNvSpPr/>
          <p:nvPr/>
        </p:nvSpPr>
        <p:spPr>
          <a:xfrm>
            <a:off x="1120160" y="240008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 ER DIAGRAM WORKS ? 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718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169EE3-3E7B-4449-87ED-FAC362CF0C1F}"/>
              </a:ext>
            </a:extLst>
          </p:cNvPr>
          <p:cNvSpPr txBox="1"/>
          <p:nvPr/>
        </p:nvSpPr>
        <p:spPr>
          <a:xfrm>
            <a:off x="575034" y="400279"/>
            <a:ext cx="93702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>
                <a:solidFill>
                  <a:schemeClr val="accent1"/>
                </a:solidFill>
              </a:rPr>
              <a:t>Conclusion</a:t>
            </a:r>
            <a:r>
              <a:rPr lang="de-DE" sz="2400" b="1" dirty="0">
                <a:solidFill>
                  <a:schemeClr val="accent1"/>
                </a:solidFill>
              </a:rPr>
              <a:t> &amp; Next </a:t>
            </a:r>
            <a:r>
              <a:rPr lang="de-DE" sz="2400" b="1" dirty="0" err="1">
                <a:solidFill>
                  <a:schemeClr val="accent1"/>
                </a:solidFill>
              </a:rPr>
              <a:t>Steps</a:t>
            </a:r>
            <a:endParaRPr lang="de-DE" sz="2400" b="1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2F780C-D2C2-42C2-8BE8-7BCC67E6E95B}"/>
              </a:ext>
            </a:extLst>
          </p:cNvPr>
          <p:cNvSpPr/>
          <p:nvPr/>
        </p:nvSpPr>
        <p:spPr>
          <a:xfrm>
            <a:off x="669009" y="1328457"/>
            <a:ext cx="101410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Reference File is the ground truth </a:t>
            </a:r>
            <a:r>
              <a:rPr lang="en-US" dirty="0"/>
              <a:t>(DSB_FDZ_Gesundheit_variable.csv from FDZ defines the authoritative structure for all variables including type, length and mandatory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Schema Deviations should be cleared </a:t>
            </a:r>
            <a:r>
              <a:rPr lang="en-US" dirty="0"/>
              <a:t>before implementing any anonymization techniques to create the synthetic data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Synthetic Seeder as a Simulator, this works but must align with specification (strictly match) reference types to avoid PostgreSQL errors or semantic errors. (optional: Schema validator for testing purpose)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Two-database architecture ---one for FDZ seed data and one for synthetic data (class 1) –to clearly separate sources and improve traceability, testing and validations workflows.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EE90E-108A-495F-B0FC-29D9ECFDD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694" y="4291335"/>
            <a:ext cx="3028950" cy="1514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498E77-2E68-4046-B9BC-B7C931CA8BF2}"/>
              </a:ext>
            </a:extLst>
          </p:cNvPr>
          <p:cNvSpPr/>
          <p:nvPr/>
        </p:nvSpPr>
        <p:spPr>
          <a:xfrm>
            <a:off x="2404821" y="623701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sz="1200" dirty="0"/>
              <a:t>https://github.com/FDZ-Gesundheit/Public-Use-File/blob/main/dm3_testdaten.sqlite</a:t>
            </a:r>
          </a:p>
        </p:txBody>
      </p:sp>
    </p:spTree>
    <p:extLst>
      <p:ext uri="{BB962C8B-B14F-4D97-AF65-F5344CB8AC3E}">
        <p14:creationId xmlns:p14="http://schemas.microsoft.com/office/powerpoint/2010/main" val="134228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ＭＳ 明朝</vt:lpstr>
      <vt:lpstr>Office Theme</vt:lpstr>
      <vt:lpstr>Master Thesis: CORE Pipeline Updates  BACKEND PROGRESS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CORE Pipeline Updates  BACKEND PROGRESS</dc:title>
  <dc:creator>Thothathri, Gokul</dc:creator>
  <cp:lastModifiedBy>Thothathri, Gokul</cp:lastModifiedBy>
  <cp:revision>13</cp:revision>
  <dcterms:created xsi:type="dcterms:W3CDTF">2025-05-07T07:30:15Z</dcterms:created>
  <dcterms:modified xsi:type="dcterms:W3CDTF">2025-05-07T10:37:03Z</dcterms:modified>
</cp:coreProperties>
</file>