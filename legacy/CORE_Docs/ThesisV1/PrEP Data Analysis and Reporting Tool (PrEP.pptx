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7" r:id="rId7"/>
    <p:sldId id="266" r:id="rId8"/>
    <p:sldId id="268" r:id="rId9"/>
    <p:sldId id="261" r:id="rId10"/>
    <p:sldId id="269" r:id="rId11"/>
    <p:sldId id="264" r:id="rId12"/>
    <p:sldId id="265" r:id="rId13"/>
    <p:sldId id="262" r:id="rId14"/>
    <p:sldId id="263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6" autoAdjust="0"/>
    <p:restoredTop sz="93883" autoAdjust="0"/>
  </p:normalViewPr>
  <p:slideViewPr>
    <p:cSldViewPr snapToGrid="0">
      <p:cViewPr varScale="1">
        <p:scale>
          <a:sx n="77" d="100"/>
          <a:sy n="77" d="100"/>
        </p:scale>
        <p:origin x="1614" y="1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B867A-7B6D-480B-AB2E-8A88DEF8E07F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087B1-6F43-47DE-9334-B50EC0C67D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4535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9700E-0ECA-4F21-88F3-6235467F9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B83980-BB69-4CDD-A38C-B693253BA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74399-3BED-4353-BB51-DE43697A4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91C18-C69B-4BDA-B4FD-3D1B1731CA10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44B3E-AAC9-4B91-80E1-B3E7D974C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DE765-5EC8-467C-907E-04A688A8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3715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A8E89-ED56-47C0-A214-AAC5E251C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76D47-3C11-44C8-AE2B-6E984DCAE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213FD-453C-44FF-B98B-4D7B65E0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91C18-C69B-4BDA-B4FD-3D1B1731CA10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778DA-3DAB-42C6-9BFC-2C302958B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45D2D-BA81-46AF-BFDA-B5D4FD5D8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591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1DAF1-5093-4426-ADF0-A4983DC0F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75EC2-4C5E-444E-93A5-B53E8AF22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014CB-48A6-4605-B87F-437EA8812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91C18-C69B-4BDA-B4FD-3D1B1731CA10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65CCC-DE69-4018-A5A1-3822BD9C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23AA3-7AE9-4ED6-A26B-FB070BCD7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4360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567CD-849D-4652-A507-6421AD95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ABC65-86A4-4342-860C-8201B8E13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151B5-463C-4FD2-8F2C-B9BDD4313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4448F-3BBF-4C64-AEC8-92FCA31E4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91C18-C69B-4BDA-B4FD-3D1B1731CA10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6FB60-3149-4CB2-B3AE-CC9525CF3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677CD-B939-4E49-A5AD-4310F9D0C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104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49C82-C306-4407-BE2E-F7A96CCAF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F3A60-BD33-47FC-8058-E36C06443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8BB5A-4F30-40CC-9DD7-EEAE54A89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852A94-7984-49CE-8368-9D79099F5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68F9AE-1919-4F64-8C83-D8E7533DD4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610C8-F3F3-4F6A-9B46-08D929435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91C18-C69B-4BDA-B4FD-3D1B1731CA10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061CC-DBFB-4BE1-8156-EF6C0ECA7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1FEF47-DF96-4626-AF17-A86F28DCC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1436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DD426-9F12-4BEF-BFC9-7BD57EA40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BC7297-A73F-43E2-8C41-07C6F0B5E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91C18-C69B-4BDA-B4FD-3D1B1731CA10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294D5-23C0-4962-A39A-9CA371874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F427EC-92DA-4199-9B5D-807416C8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9389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BDD2DC-0E1A-406F-AA79-530F8E723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91C18-C69B-4BDA-B4FD-3D1B1731CA10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E3D614-4207-416A-BD72-F46319240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2C671-0A76-47EA-901E-BD9C832D2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5989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88224-6945-486B-8740-5B73B86A8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C0AF2-0644-44BD-B19E-CEDDF54D9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C3DC7-ACF0-4DD7-A621-139ED6F6F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832DD-506E-4D7B-AE5E-C8EBCF42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91C18-C69B-4BDA-B4FD-3D1B1731CA10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EB87D-A6C3-4F52-9147-45CD564FF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4F565-C4E2-4ED3-BBF5-0D44C5A46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9882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D4775-5BE8-4F6C-B12D-53DB2E3F0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D058BC-E98F-4339-8A6C-DB435FA85E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D7FADD-3FC8-4AA3-A36C-B5DB56275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B7422-4640-40BD-BC07-DDF514789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91C18-C69B-4BDA-B4FD-3D1B1731CA10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6300A-4730-4082-A63F-9AE45042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E5C6A-6C80-4127-AAF1-9D3C52414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0831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51E3B-BFA0-4FB5-AA43-1A6F4BA0D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DE07-79C3-4148-93D5-41C1143A4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1C181-864C-44AB-9DD9-26435040F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91C18-C69B-4BDA-B4FD-3D1B1731CA10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F66DF-4C50-48AB-8513-FAA0AFAE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95FB6-7338-487E-A5B6-6AE71F7A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9181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D11581-C159-4A8B-A6F4-A7B119A07F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993CD1-AC83-47DE-A04B-7429896B2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C750A-6BB3-429B-B002-F929F309E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91C18-C69B-4BDA-B4FD-3D1B1731CA10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45C81-39CC-4539-8D7E-CF8FCEAC8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24167-7AA1-42C9-8AD9-AE6CD136C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0160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FE86CD-9B15-4222-B05F-39B67CBA9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1850A-CC84-4795-BEBC-40AB9844F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A34FF-C48B-4DE0-A913-B10D7353EB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91C18-C69B-4BDA-B4FD-3D1B1731CA10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D1696-1E8E-4253-A966-57ACEACB43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834CD-3819-4E8A-98F7-4FCC294F8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CFA2D-0416-4DA7-8676-EED4B659BD9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5260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A304-CDDA-4426-B065-653336B9E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848" y="1387002"/>
            <a:ext cx="9483673" cy="776190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 Data Analysis and Reporting Tool (PrEP DART):</a:t>
            </a:r>
            <a:b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Privacy-Preserving Data Pipeline Incorporating Synthetic data for Public Health Analytics using Health Data Lab Frameworks</a:t>
            </a:r>
            <a:endParaRPr lang="de-DE" sz="2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AC9342-426E-42DF-92A5-FFAE6C5D0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48959" y="2853956"/>
            <a:ext cx="4961641" cy="776190"/>
          </a:xfrm>
        </p:spPr>
        <p:txBody>
          <a:bodyPr>
            <a:normAutofit fontScale="70000" lnSpcReduction="20000"/>
          </a:bodyPr>
          <a:lstStyle/>
          <a:p>
            <a:r>
              <a:rPr lang="de-DE" b="1" i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Thesis </a:t>
            </a:r>
            <a:r>
              <a:rPr lang="de-DE" b="1" i="1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Proposal</a:t>
            </a:r>
            <a:r>
              <a:rPr lang="de-DE" b="1" i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</a:t>
            </a:r>
            <a:br>
              <a:rPr lang="de-DE" b="1" dirty="0">
                <a:solidFill>
                  <a:schemeClr val="bg2">
                    <a:lumMod val="50000"/>
                  </a:schemeClr>
                </a:solidFill>
              </a:rPr>
            </a:br>
            <a:endParaRPr lang="de-DE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de-DE" sz="2300" dirty="0">
                <a:solidFill>
                  <a:schemeClr val="bg2">
                    <a:lumMod val="50000"/>
                  </a:schemeClr>
                </a:solidFill>
              </a:rPr>
              <a:t>Gokul Thothathri </a:t>
            </a:r>
          </a:p>
          <a:p>
            <a:endParaRPr lang="de-DE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BD9233-D1A8-4244-89E2-3B585051666D}"/>
              </a:ext>
            </a:extLst>
          </p:cNvPr>
          <p:cNvSpPr txBox="1"/>
          <p:nvPr/>
        </p:nvSpPr>
        <p:spPr>
          <a:xfrm>
            <a:off x="4136009" y="4070615"/>
            <a:ext cx="398753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700" b="1" i="1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lang="de-DE" sz="1700" b="1" i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700" b="1" i="1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sz="1700" b="1" i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Supervision </a:t>
            </a:r>
            <a:r>
              <a:rPr lang="de-DE" sz="1700" b="1" i="1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de-DE" sz="1700" b="1" i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de-DE" sz="17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17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de-DE" sz="17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17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Thilo Muth </a:t>
            </a:r>
            <a:br>
              <a:rPr lang="de-DE" sz="17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17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Daniel Schmidt </a:t>
            </a:r>
            <a:br>
              <a:rPr lang="de-DE" sz="17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16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Konstas</a:t>
            </a:r>
            <a:r>
              <a:rPr lang="de-DE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Voulgaris</a:t>
            </a:r>
            <a:br>
              <a:rPr lang="de-DE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de-DE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74B9A-5A64-4EBD-B9B2-3C826FD6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9862" y="435171"/>
            <a:ext cx="2097858" cy="52213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C4A14-A5C7-48D1-B712-CD7ABB2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0993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A304-CDDA-4426-B065-653336B9E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52983" y="308143"/>
            <a:ext cx="5103659" cy="77619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HIV PrEP Monitoring</a:t>
            </a:r>
            <a:endParaRPr lang="de-DE" sz="2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74B9A-5A64-4EBD-B9B2-3C826FD6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9862" y="435171"/>
            <a:ext cx="2097858" cy="52213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C4A14-A5C7-48D1-B712-CD7ABB2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2</a:t>
            </a:fld>
            <a:endParaRPr lang="de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859841-335A-464B-BC73-E93254837538}"/>
              </a:ext>
            </a:extLst>
          </p:cNvPr>
          <p:cNvSpPr txBox="1"/>
          <p:nvPr/>
        </p:nvSpPr>
        <p:spPr>
          <a:xfrm>
            <a:off x="628073" y="1237674"/>
            <a:ext cx="637994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HIV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pre-exposure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prophylaxis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(PrEP)</a:t>
            </a: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PrEP Surv (PrEP Surveillance): Established monitoring system for PrEP care, aligned with ECDC guidelines to ensure clinical efficacy.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Current frameworks (ECDC’s PrEP indicators) offer robust data structures but require manual data processing and lack real-time automation.</a:t>
            </a:r>
            <a:br>
              <a:rPr lang="en-US" dirty="0"/>
            </a:br>
            <a:endParaRPr lang="de-DE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de-DE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lang="de-DE" i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dirty="0"/>
              <a:t>Manual reporting requires significant time and resources, delaying timely insights.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Lack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standarized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pipelines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integrating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validating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diverse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551D9E-4A32-4A36-A39C-C88F7D01A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51" y="1653882"/>
            <a:ext cx="1974226" cy="27669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FE10D7-41D3-4BF6-BAA2-BA169DD370D0}"/>
              </a:ext>
            </a:extLst>
          </p:cNvPr>
          <p:cNvSpPr txBox="1"/>
          <p:nvPr/>
        </p:nvSpPr>
        <p:spPr>
          <a:xfrm>
            <a:off x="7539644" y="4621007"/>
            <a:ext cx="44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Chemical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TDF/FTC </a:t>
            </a:r>
            <a:r>
              <a:rPr lang="de-DE" sz="1200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8EF175-72CE-4ADA-9224-ADFE4E96B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7267" y="1956143"/>
            <a:ext cx="1542238" cy="19221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53BFBE7-2ABA-4D6D-96BE-3A2F7C33A65E}"/>
              </a:ext>
            </a:extLst>
          </p:cNvPr>
          <p:cNvSpPr txBox="1"/>
          <p:nvPr/>
        </p:nvSpPr>
        <p:spPr>
          <a:xfrm>
            <a:off x="9375944" y="2568348"/>
            <a:ext cx="60625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600" dirty="0"/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12CFBA-7A91-49BB-822D-210540C9FBEB}"/>
              </a:ext>
            </a:extLst>
          </p:cNvPr>
          <p:cNvSpPr txBox="1"/>
          <p:nvPr/>
        </p:nvSpPr>
        <p:spPr>
          <a:xfrm>
            <a:off x="8233764" y="6388539"/>
            <a:ext cx="4910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[1] </a:t>
            </a:r>
            <a:r>
              <a:rPr lang="de-DE" sz="1200" dirty="0" err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DrugBank</a:t>
            </a:r>
            <a:r>
              <a:rPr lang="de-DE" sz="1200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Online (</a:t>
            </a:r>
            <a:r>
              <a:rPr lang="de-DE" sz="1200" dirty="0" err="1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accessed</a:t>
            </a:r>
            <a:r>
              <a:rPr lang="de-DE" sz="1200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[23.01.2025]) </a:t>
            </a:r>
          </a:p>
        </p:txBody>
      </p:sp>
    </p:spTree>
    <p:extLst>
      <p:ext uri="{BB962C8B-B14F-4D97-AF65-F5344CB8AC3E}">
        <p14:creationId xmlns:p14="http://schemas.microsoft.com/office/powerpoint/2010/main" val="28905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A304-CDDA-4426-B065-653336B9E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387" y="308143"/>
            <a:ext cx="8499050" cy="77619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Development of PrEP DART Pipeline</a:t>
            </a:r>
            <a:endParaRPr lang="de-DE" sz="2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74B9A-5A64-4EBD-B9B2-3C826FD6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9862" y="435171"/>
            <a:ext cx="2097858" cy="52213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C4A14-A5C7-48D1-B712-CD7ABB2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3</a:t>
            </a:fld>
            <a:endParaRPr lang="de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E04D82-DDEE-4083-B8DE-98677FB9AA4A}"/>
              </a:ext>
            </a:extLst>
          </p:cNvPr>
          <p:cNvSpPr txBox="1"/>
          <p:nvPr/>
        </p:nvSpPr>
        <p:spPr>
          <a:xfrm>
            <a:off x="907105" y="1569027"/>
            <a:ext cx="562300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Data Collection: </a:t>
            </a:r>
            <a:r>
              <a:rPr lang="en-US" dirty="0"/>
              <a:t>Use of Public Use Files (PUFs) from FDZ Gesundheit for synthetic data simulation.</a:t>
            </a:r>
            <a:r>
              <a:rPr lang="de-DE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 Pipeline Development: </a:t>
            </a:r>
            <a:r>
              <a:rPr lang="de-DE" dirty="0" err="1"/>
              <a:t>Automate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cleaning</a:t>
            </a:r>
            <a:r>
              <a:rPr lang="de-DE" dirty="0"/>
              <a:t>, </a:t>
            </a:r>
            <a:r>
              <a:rPr lang="de-DE" dirty="0" err="1"/>
              <a:t>integration</a:t>
            </a:r>
            <a:r>
              <a:rPr lang="de-DE" dirty="0"/>
              <a:t>, and </a:t>
            </a:r>
            <a:r>
              <a:rPr lang="de-DE" dirty="0" err="1"/>
              <a:t>transformation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Python and FDZ </a:t>
            </a:r>
            <a:r>
              <a:rPr lang="de-DE" dirty="0" err="1"/>
              <a:t>frameworks</a:t>
            </a:r>
            <a:r>
              <a:rPr lang="de-DE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 </a:t>
            </a:r>
            <a:r>
              <a:rPr lang="de-DE" dirty="0" err="1"/>
              <a:t>Indicator</a:t>
            </a:r>
            <a:r>
              <a:rPr lang="de-DE" dirty="0"/>
              <a:t> Mapping: </a:t>
            </a:r>
            <a:r>
              <a:rPr lang="de-DE" dirty="0" err="1"/>
              <a:t>Map</a:t>
            </a:r>
            <a:r>
              <a:rPr lang="de-DE" dirty="0"/>
              <a:t> ECDC-</a:t>
            </a:r>
            <a:r>
              <a:rPr lang="de-DE" dirty="0" err="1"/>
              <a:t>defined</a:t>
            </a:r>
            <a:r>
              <a:rPr lang="de-DE" dirty="0"/>
              <a:t> </a:t>
            </a:r>
            <a:r>
              <a:rPr lang="de-DE" dirty="0" err="1"/>
              <a:t>indicators</a:t>
            </a:r>
            <a:r>
              <a:rPr lang="de-DE" dirty="0"/>
              <a:t> (</a:t>
            </a:r>
            <a:r>
              <a:rPr lang="de-DE" dirty="0" err="1"/>
              <a:t>e.g</a:t>
            </a:r>
            <a:r>
              <a:rPr lang="de-DE" dirty="0"/>
              <a:t> PrEP-</a:t>
            </a:r>
            <a:r>
              <a:rPr lang="de-DE" dirty="0" err="1"/>
              <a:t>to</a:t>
            </a:r>
            <a:r>
              <a:rPr lang="de-DE" dirty="0"/>
              <a:t>-Need-ratio)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anonymized</a:t>
            </a:r>
            <a:r>
              <a:rPr lang="de-DE" dirty="0"/>
              <a:t> </a:t>
            </a:r>
            <a:r>
              <a:rPr lang="de-DE" dirty="0" err="1"/>
              <a:t>datasets</a:t>
            </a:r>
            <a:r>
              <a:rPr lang="de-DE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 Output Generation: </a:t>
            </a:r>
            <a:r>
              <a:rPr lang="de-DE" dirty="0" err="1"/>
              <a:t>Tabular</a:t>
            </a:r>
            <a:r>
              <a:rPr lang="de-DE" dirty="0"/>
              <a:t> </a:t>
            </a:r>
            <a:r>
              <a:rPr lang="de-DE" dirty="0" err="1"/>
              <a:t>summaries</a:t>
            </a:r>
            <a:r>
              <a:rPr lang="de-DE" dirty="0"/>
              <a:t> and </a:t>
            </a:r>
            <a:r>
              <a:rPr lang="de-DE" dirty="0" err="1"/>
              <a:t>visualizations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 Validation </a:t>
            </a:r>
            <a:r>
              <a:rPr lang="de-DE" dirty="0" err="1"/>
              <a:t>Testing</a:t>
            </a:r>
            <a:r>
              <a:rPr lang="de-DE" dirty="0"/>
              <a:t>: Test Pipeline </a:t>
            </a:r>
            <a:r>
              <a:rPr lang="de-DE" dirty="0" err="1"/>
              <a:t>accuracy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multiple </a:t>
            </a:r>
            <a:r>
              <a:rPr lang="de-DE" dirty="0" err="1"/>
              <a:t>versions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PUFs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44650C-C978-4C68-A6D5-F984A7E72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994" y="1297303"/>
            <a:ext cx="3280886" cy="42473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CA37104-1944-4849-AE97-A821C5B88D84}"/>
              </a:ext>
            </a:extLst>
          </p:cNvPr>
          <p:cNvSpPr txBox="1"/>
          <p:nvPr/>
        </p:nvSpPr>
        <p:spPr>
          <a:xfrm>
            <a:off x="7189902" y="5693342"/>
            <a:ext cx="44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PUF Data Generation</a:t>
            </a:r>
            <a:endParaRPr lang="de-DE" sz="1200" dirty="0">
              <a:solidFill>
                <a:schemeClr val="bg2">
                  <a:lumMod val="9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285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A304-CDDA-4426-B065-653336B9E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9187" y="47076"/>
            <a:ext cx="8499050" cy="77619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PrEP DART Pipeline Architecture</a:t>
            </a:r>
            <a:endParaRPr lang="de-DE" sz="2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74B9A-5A64-4EBD-B9B2-3C826FD6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9862" y="435171"/>
            <a:ext cx="2097858" cy="52213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C4A14-A5C7-48D1-B712-CD7ABB2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4</a:t>
            </a:fld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BAB3BB-00BF-4428-9689-3FDF8CDE0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327" y="872687"/>
            <a:ext cx="9079345" cy="50137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773761-08D2-441F-BC66-0859C81FE11C}"/>
              </a:ext>
            </a:extLst>
          </p:cNvPr>
          <p:cNvSpPr txBox="1"/>
          <p:nvPr/>
        </p:nvSpPr>
        <p:spPr>
          <a:xfrm>
            <a:off x="4170680" y="6037645"/>
            <a:ext cx="44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3: PrEP-DART Architecture </a:t>
            </a:r>
            <a:endParaRPr lang="de-DE" sz="1200" dirty="0">
              <a:solidFill>
                <a:schemeClr val="bg2">
                  <a:lumMod val="9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89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A304-CDDA-4426-B065-653336B9E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387" y="317379"/>
            <a:ext cx="8499050" cy="77619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Expected Results and Deliverables</a:t>
            </a:r>
            <a:endParaRPr lang="de-DE" sz="2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74B9A-5A64-4EBD-B9B2-3C826FD6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942" y="435171"/>
            <a:ext cx="2097858" cy="52213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C4A14-A5C7-48D1-B712-CD7ABB2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5</a:t>
            </a:fld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C4AA16-8FAB-4713-8E1F-871F04F98C9A}"/>
              </a:ext>
            </a:extLst>
          </p:cNvPr>
          <p:cNvSpPr txBox="1"/>
          <p:nvPr/>
        </p:nvSpPr>
        <p:spPr>
          <a:xfrm>
            <a:off x="838200" y="1278037"/>
            <a:ext cx="591856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fully functional pipeline (PrEP-DART) for automating indicator computation.</a:t>
            </a:r>
            <a:endParaRPr lang="de-DE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Comprehensive reports with metrics like:</a:t>
            </a:r>
            <a:br>
              <a:rPr lang="en-US" dirty="0"/>
            </a:br>
            <a:r>
              <a:rPr lang="en-US" dirty="0"/>
              <a:t>	- PrEP coverage and uptake rates</a:t>
            </a:r>
          </a:p>
          <a:p>
            <a:pPr lvl="2"/>
            <a:r>
              <a:rPr lang="en-US" dirty="0"/>
              <a:t>- </a:t>
            </a:r>
            <a:r>
              <a:rPr lang="de-DE" dirty="0"/>
              <a:t>PrEP-</a:t>
            </a:r>
            <a:r>
              <a:rPr lang="de-DE" dirty="0" err="1"/>
              <a:t>to</a:t>
            </a:r>
            <a:r>
              <a:rPr lang="de-DE" dirty="0"/>
              <a:t>-Need Ratio (PnR)</a:t>
            </a:r>
            <a:br>
              <a:rPr lang="de-DE" dirty="0"/>
            </a:br>
            <a:r>
              <a:rPr lang="de-DE" dirty="0"/>
              <a:t>- </a:t>
            </a:r>
            <a:r>
              <a:rPr lang="de-DE" dirty="0" err="1"/>
              <a:t>Continuation</a:t>
            </a:r>
            <a:r>
              <a:rPr lang="de-DE" dirty="0"/>
              <a:t> and </a:t>
            </a:r>
            <a:r>
              <a:rPr lang="de-DE" dirty="0" err="1"/>
              <a:t>adherence</a:t>
            </a:r>
            <a:r>
              <a:rPr lang="de-DE" dirty="0"/>
              <a:t> </a:t>
            </a:r>
            <a:r>
              <a:rPr lang="de-DE" dirty="0" err="1"/>
              <a:t>rates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 </a:t>
            </a:r>
            <a:r>
              <a:rPr lang="en-US" dirty="0"/>
              <a:t>Visualizations for quarterly and annual trends in PrEP usage</a:t>
            </a:r>
            <a:endParaRPr lang="de-DE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de-DE" dirty="0"/>
              <a:t> </a:t>
            </a:r>
            <a:r>
              <a:rPr lang="en-US" dirty="0"/>
              <a:t>Insights into gaps in PrEP program reach and effectiveness.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 Validation </a:t>
            </a:r>
            <a:r>
              <a:rPr lang="de-DE" dirty="0" err="1"/>
              <a:t>Testing</a:t>
            </a:r>
            <a:r>
              <a:rPr lang="de-DE" dirty="0"/>
              <a:t>: Test Pipeline </a:t>
            </a:r>
            <a:r>
              <a:rPr lang="de-DE" dirty="0" err="1"/>
              <a:t>accuracy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multiple </a:t>
            </a:r>
            <a:r>
              <a:rPr lang="de-DE" dirty="0" err="1"/>
              <a:t>versions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PUFs</a:t>
            </a:r>
            <a:br>
              <a:rPr lang="de-DE" dirty="0"/>
            </a:br>
            <a:br>
              <a:rPr lang="de-DE" dirty="0"/>
            </a:br>
            <a:r>
              <a:rPr lang="de-DE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Impact</a:t>
            </a: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dirty="0"/>
              <a:t>Supports data-driven decision-making for HIV prevention programs.</a:t>
            </a:r>
            <a:br>
              <a:rPr lang="en-US" dirty="0"/>
            </a:br>
            <a:r>
              <a:rPr lang="en-US" dirty="0"/>
              <a:t>(2)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Establish a validation blueprint for scalable health data pipelines.</a:t>
            </a:r>
            <a:br>
              <a:rPr lang="de-DE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de-DE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3268FA-B4F7-42E7-8442-D2E7EFF99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261" y="1847092"/>
            <a:ext cx="1384035" cy="15198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E92A04C-F8AC-42A0-BA61-3DC720F186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271" y="1827846"/>
            <a:ext cx="1219200" cy="1219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E670E98-AA4F-443C-A3DD-E7186B4519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7565" y="3797451"/>
            <a:ext cx="1464547" cy="146454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BF9856-8C6B-4EAC-8179-D9BDA31AFC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556" y="3228329"/>
            <a:ext cx="990722" cy="40134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52E1311-7427-476F-AC7C-8315243331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577" y="3139024"/>
            <a:ext cx="1265072" cy="5664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8C6129B-DFA2-4F27-B250-671EEB7772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597" y="3810955"/>
            <a:ext cx="1464547" cy="146454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0232AD0-39AA-4F2D-80AA-5431F638D671}"/>
              </a:ext>
            </a:extLst>
          </p:cNvPr>
          <p:cNvSpPr txBox="1"/>
          <p:nvPr/>
        </p:nvSpPr>
        <p:spPr>
          <a:xfrm>
            <a:off x="7189902" y="5693342"/>
            <a:ext cx="44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4: Technologies and Libraries </a:t>
            </a:r>
            <a:endParaRPr lang="de-DE" sz="1200" dirty="0">
              <a:solidFill>
                <a:schemeClr val="bg2">
                  <a:lumMod val="9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949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A304-CDDA-4426-B065-653336B9E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4431" y="47076"/>
            <a:ext cx="4917707" cy="77619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de-DE" sz="2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74B9A-5A64-4EBD-B9B2-3C826FD6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942" y="435171"/>
            <a:ext cx="2097858" cy="52213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C4A14-A5C7-48D1-B712-CD7ABB2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6</a:t>
            </a:fld>
            <a:endParaRPr lang="de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F7DBD9-F366-4EFF-AB95-9EE060F93AD9}"/>
              </a:ext>
            </a:extLst>
          </p:cNvPr>
          <p:cNvSpPr/>
          <p:nvPr/>
        </p:nvSpPr>
        <p:spPr>
          <a:xfrm>
            <a:off x="381000" y="6211669"/>
            <a:ext cx="1181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u="sng" dirty="0" err="1"/>
              <a:t>Kaabachi</a:t>
            </a:r>
            <a:r>
              <a:rPr lang="en-US" i="1" u="sng" dirty="0"/>
              <a:t>, </a:t>
            </a:r>
            <a:r>
              <a:rPr lang="en-US" i="1" u="sng" dirty="0" err="1"/>
              <a:t>Bayrem</a:t>
            </a:r>
            <a:r>
              <a:rPr lang="en-US" i="1" u="sng" dirty="0"/>
              <a:t>, et al. "A scoping review of privacy and utility metrics in medical synthetic data." NPJ digital medicine 8.1 (2025): 60.</a:t>
            </a:r>
            <a:endParaRPr lang="de-DE" i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CB41B-20EC-499D-9280-0DDE13494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79" y="2439914"/>
            <a:ext cx="5433347" cy="15566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8DB679-386E-423C-8FC7-ACE8E041F79A}"/>
              </a:ext>
            </a:extLst>
          </p:cNvPr>
          <p:cNvSpPr txBox="1"/>
          <p:nvPr/>
        </p:nvSpPr>
        <p:spPr>
          <a:xfrm>
            <a:off x="734411" y="5268348"/>
            <a:ext cx="105156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“Only 46% of studies claiming to employ synthetic privacy data for preserving privacy conducted privacy evaluation in these algorithms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endParaRPr lang="de-DE" sz="20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4DEDF3-5395-47D3-B014-A92057851604}"/>
              </a:ext>
            </a:extLst>
          </p:cNvPr>
          <p:cNvSpPr/>
          <p:nvPr/>
        </p:nvSpPr>
        <p:spPr>
          <a:xfrm>
            <a:off x="5507772" y="1460828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Collection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research</a:t>
            </a:r>
            <a:r>
              <a:rPr lang="de-DE" dirty="0"/>
              <a:t> </a:t>
            </a:r>
            <a:r>
              <a:rPr lang="de-DE" dirty="0" err="1"/>
              <a:t>papers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review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whether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underlying</a:t>
            </a:r>
            <a:r>
              <a:rPr lang="de-DE" dirty="0"/>
              <a:t> </a:t>
            </a:r>
            <a:r>
              <a:rPr lang="de-DE" dirty="0" err="1"/>
              <a:t>study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“</a:t>
            </a:r>
            <a:r>
              <a:rPr lang="de-DE" dirty="0" err="1"/>
              <a:t>cross-sectional</a:t>
            </a:r>
            <a:r>
              <a:rPr lang="de-DE" dirty="0"/>
              <a:t>“ </a:t>
            </a:r>
            <a:r>
              <a:rPr lang="de-DE" dirty="0" err="1"/>
              <a:t>or</a:t>
            </a:r>
            <a:r>
              <a:rPr lang="de-DE" dirty="0"/>
              <a:t> “longitudinal“. </a:t>
            </a:r>
            <a:br>
              <a:rPr lang="de-DE" dirty="0"/>
            </a:b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The </a:t>
            </a:r>
            <a:r>
              <a:rPr lang="de-DE" dirty="0" err="1"/>
              <a:t>metrics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classified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features</a:t>
            </a:r>
            <a:endParaRPr lang="de-DE" dirty="0"/>
          </a:p>
          <a:p>
            <a:pPr lvl="1"/>
            <a:r>
              <a:rPr lang="de-DE" dirty="0"/>
              <a:t>(1) Broad Utility   (Statistical </a:t>
            </a:r>
            <a:r>
              <a:rPr lang="de-DE" dirty="0" err="1"/>
              <a:t>accuracy</a:t>
            </a:r>
            <a:r>
              <a:rPr lang="de-DE" dirty="0"/>
              <a:t>)</a:t>
            </a:r>
            <a:br>
              <a:rPr lang="de-DE" dirty="0"/>
            </a:br>
            <a:r>
              <a:rPr lang="de-DE" dirty="0"/>
              <a:t>(2) Narrow Utility  (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Cased</a:t>
            </a:r>
            <a:r>
              <a:rPr lang="de-DE" dirty="0"/>
              <a:t> </a:t>
            </a:r>
            <a:r>
              <a:rPr lang="de-DE" dirty="0" err="1"/>
              <a:t>Specified</a:t>
            </a:r>
            <a:r>
              <a:rPr lang="de-DE" dirty="0"/>
              <a:t>)</a:t>
            </a:r>
            <a:br>
              <a:rPr lang="de-DE" dirty="0"/>
            </a:br>
            <a:r>
              <a:rPr lang="de-DE" dirty="0"/>
              <a:t>(3) Fairness (Bias </a:t>
            </a:r>
            <a:r>
              <a:rPr lang="de-DE" dirty="0" err="1"/>
              <a:t>correction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fairness</a:t>
            </a:r>
            <a:r>
              <a:rPr lang="de-DE" dirty="0"/>
              <a:t> </a:t>
            </a:r>
            <a:r>
              <a:rPr lang="de-DE" dirty="0" err="1"/>
              <a:t>evaluation</a:t>
            </a:r>
            <a:r>
              <a:rPr lang="de-DE" dirty="0"/>
              <a:t>)</a:t>
            </a:r>
            <a:br>
              <a:rPr lang="de-DE" dirty="0"/>
            </a:br>
            <a:r>
              <a:rPr lang="de-DE" dirty="0"/>
              <a:t>(4) Privacy (Privacy </a:t>
            </a:r>
            <a:r>
              <a:rPr lang="de-DE" dirty="0" err="1"/>
              <a:t>preserving</a:t>
            </a:r>
            <a:r>
              <a:rPr lang="de-DE" dirty="0"/>
              <a:t> </a:t>
            </a:r>
            <a:r>
              <a:rPr lang="de-DE" dirty="0" err="1"/>
              <a:t>techniques</a:t>
            </a:r>
            <a:r>
              <a:rPr lang="de-DE" dirty="0"/>
              <a:t>, </a:t>
            </a:r>
            <a:r>
              <a:rPr lang="de-DE" dirty="0" err="1"/>
              <a:t>similarity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metrics</a:t>
            </a:r>
            <a:r>
              <a:rPr lang="de-DE" dirty="0"/>
              <a:t>)</a:t>
            </a:r>
            <a:br>
              <a:rPr lang="de-DE" dirty="0"/>
            </a:br>
            <a:r>
              <a:rPr lang="de-DE" b="1" i="1" u="sng" dirty="0"/>
              <a:t>Most </a:t>
            </a:r>
            <a:r>
              <a:rPr lang="de-DE" b="1" i="1" u="sng" dirty="0" err="1"/>
              <a:t>of</a:t>
            </a:r>
            <a:r>
              <a:rPr lang="de-DE" b="1" i="1" u="sng" dirty="0"/>
              <a:t> </a:t>
            </a:r>
            <a:r>
              <a:rPr lang="de-DE" b="1" i="1" u="sng" dirty="0" err="1"/>
              <a:t>the</a:t>
            </a:r>
            <a:r>
              <a:rPr lang="de-DE" b="1" i="1" u="sng" dirty="0"/>
              <a:t> </a:t>
            </a:r>
            <a:r>
              <a:rPr lang="de-DE" b="1" i="1" u="sng" dirty="0" err="1"/>
              <a:t>metrics</a:t>
            </a:r>
            <a:r>
              <a:rPr lang="de-DE" b="1" i="1" u="sng" dirty="0"/>
              <a:t> </a:t>
            </a:r>
            <a:r>
              <a:rPr lang="de-DE" b="1" i="1" u="sng" dirty="0" err="1"/>
              <a:t>are</a:t>
            </a:r>
            <a:r>
              <a:rPr lang="de-DE" b="1" i="1" u="sng" dirty="0"/>
              <a:t> </a:t>
            </a:r>
            <a:r>
              <a:rPr lang="de-DE" b="1" i="1" u="sng" dirty="0" err="1"/>
              <a:t>similarity</a:t>
            </a:r>
            <a:r>
              <a:rPr lang="de-DE" b="1" i="1" u="sng" dirty="0"/>
              <a:t> </a:t>
            </a:r>
            <a:r>
              <a:rPr lang="de-DE" b="1" i="1" u="sng" dirty="0" err="1"/>
              <a:t>based</a:t>
            </a:r>
            <a:r>
              <a:rPr lang="de-DE" b="1" i="1" u="sng" dirty="0"/>
              <a:t> </a:t>
            </a:r>
            <a:r>
              <a:rPr lang="de-DE" b="1" i="1" u="sng" dirty="0" err="1"/>
              <a:t>metrics</a:t>
            </a:r>
            <a:r>
              <a:rPr lang="de-DE" b="1" i="1" u="sng" dirty="0"/>
              <a:t> </a:t>
            </a:r>
            <a:r>
              <a:rPr lang="de-DE" b="1" i="1" u="sng" dirty="0" err="1"/>
              <a:t>for</a:t>
            </a:r>
            <a:r>
              <a:rPr lang="de-DE" b="1" i="1" u="sng" dirty="0"/>
              <a:t> </a:t>
            </a:r>
            <a:r>
              <a:rPr lang="de-DE" b="1" i="1" u="sng" dirty="0" err="1"/>
              <a:t>privacy</a:t>
            </a:r>
            <a:r>
              <a:rPr lang="de-DE" b="1" i="1" u="sng" dirty="0"/>
              <a:t> </a:t>
            </a:r>
            <a:r>
              <a:rPr lang="de-DE" b="1" i="1" u="sng" dirty="0" err="1"/>
              <a:t>evaluation</a:t>
            </a:r>
            <a:r>
              <a:rPr lang="de-DE" b="1" i="1" u="sng" dirty="0"/>
              <a:t> 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CC3D5C-9184-4E1E-90A8-75C62395D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411" y="957305"/>
            <a:ext cx="4773361" cy="83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687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A304-CDDA-4426-B065-653336B9E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55" y="0"/>
            <a:ext cx="4917707" cy="77619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de-DE" sz="2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74B9A-5A64-4EBD-B9B2-3C826FD6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942" y="435171"/>
            <a:ext cx="2097858" cy="52213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C4A14-A5C7-48D1-B712-CD7ABB2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7</a:t>
            </a:fld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1DFEC2-5DBA-4030-A537-DC9AA9159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8780"/>
            <a:ext cx="6347770" cy="52302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DF7DBD9-F366-4EFF-AB95-9EE060F93AD9}"/>
              </a:ext>
            </a:extLst>
          </p:cNvPr>
          <p:cNvSpPr/>
          <p:nvPr/>
        </p:nvSpPr>
        <p:spPr>
          <a:xfrm>
            <a:off x="381000" y="6211669"/>
            <a:ext cx="1181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u="sng" dirty="0" err="1"/>
              <a:t>Kaabachi</a:t>
            </a:r>
            <a:r>
              <a:rPr lang="en-US" i="1" u="sng" dirty="0"/>
              <a:t>, </a:t>
            </a:r>
            <a:r>
              <a:rPr lang="en-US" i="1" u="sng" dirty="0" err="1"/>
              <a:t>Bayrem</a:t>
            </a:r>
            <a:r>
              <a:rPr lang="en-US" i="1" u="sng" dirty="0"/>
              <a:t>, et al. "A scoping review of privacy and utility metrics in medical synthetic data." NPJ digital medicine 8.1 (2025): 60.</a:t>
            </a:r>
            <a:endParaRPr lang="de-DE" i="1" u="sn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0FA062-11E6-4C4C-B483-310D0A19338F}"/>
              </a:ext>
            </a:extLst>
          </p:cNvPr>
          <p:cNvSpPr/>
          <p:nvPr/>
        </p:nvSpPr>
        <p:spPr>
          <a:xfrm>
            <a:off x="5562600" y="1859339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Nearly</a:t>
            </a:r>
            <a:r>
              <a:rPr lang="de-DE" dirty="0"/>
              <a:t> 32.65% </a:t>
            </a:r>
            <a:r>
              <a:rPr lang="de-DE" dirty="0" err="1"/>
              <a:t>Synthetic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generation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underlying</a:t>
            </a:r>
            <a:r>
              <a:rPr lang="de-DE" dirty="0"/>
              <a:t> review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Generative </a:t>
            </a:r>
            <a:r>
              <a:rPr lang="de-DE" dirty="0" err="1"/>
              <a:t>Adversial</a:t>
            </a:r>
            <a:r>
              <a:rPr lang="de-DE" dirty="0"/>
              <a:t> Models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synthesized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feeding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true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. (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generate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CT </a:t>
            </a:r>
            <a:r>
              <a:rPr lang="de-DE" dirty="0" err="1"/>
              <a:t>images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existing</a:t>
            </a:r>
            <a:r>
              <a:rPr lang="de-DE" dirty="0"/>
              <a:t> CT </a:t>
            </a:r>
            <a:r>
              <a:rPr lang="de-DE" dirty="0" err="1"/>
              <a:t>database</a:t>
            </a:r>
            <a:r>
              <a:rPr lang="de-DE" dirty="0"/>
              <a:t>) </a:t>
            </a:r>
            <a:br>
              <a:rPr lang="de-DE" dirty="0"/>
            </a:b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The </a:t>
            </a:r>
            <a:r>
              <a:rPr lang="de-DE" dirty="0" err="1"/>
              <a:t>rest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statistical</a:t>
            </a:r>
            <a:r>
              <a:rPr lang="de-DE" dirty="0"/>
              <a:t> </a:t>
            </a:r>
            <a:r>
              <a:rPr lang="de-DE" dirty="0" err="1"/>
              <a:t>modeling</a:t>
            </a:r>
            <a:r>
              <a:rPr lang="de-DE" dirty="0"/>
              <a:t>, </a:t>
            </a:r>
            <a:r>
              <a:rPr lang="de-DE" dirty="0" err="1"/>
              <a:t>bayesian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, </a:t>
            </a:r>
            <a:r>
              <a:rPr lang="de-DE" dirty="0" err="1"/>
              <a:t>propietary</a:t>
            </a:r>
            <a:r>
              <a:rPr lang="de-DE" dirty="0"/>
              <a:t> </a:t>
            </a:r>
            <a:r>
              <a:rPr lang="de-DE" dirty="0" err="1"/>
              <a:t>software</a:t>
            </a:r>
            <a:r>
              <a:rPr lang="de-DE" dirty="0"/>
              <a:t>. (</a:t>
            </a:r>
            <a:r>
              <a:rPr lang="de-DE" dirty="0" err="1"/>
              <a:t>constitutes</a:t>
            </a:r>
            <a:r>
              <a:rPr lang="de-DE" dirty="0"/>
              <a:t> 67.35%)</a:t>
            </a: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4916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A304-CDDA-4426-B065-653336B9E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55" y="0"/>
            <a:ext cx="4917707" cy="77619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de-DE" sz="2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74B9A-5A64-4EBD-B9B2-3C826FD6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942" y="435171"/>
            <a:ext cx="2097858" cy="52213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C4A14-A5C7-48D1-B712-CD7ABB2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8</a:t>
            </a:fld>
            <a:endParaRPr lang="de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F7DBD9-F366-4EFF-AB95-9EE060F93AD9}"/>
              </a:ext>
            </a:extLst>
          </p:cNvPr>
          <p:cNvSpPr/>
          <p:nvPr/>
        </p:nvSpPr>
        <p:spPr>
          <a:xfrm>
            <a:off x="381000" y="6211669"/>
            <a:ext cx="1181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u="sng" dirty="0" err="1"/>
              <a:t>Kaabachi</a:t>
            </a:r>
            <a:r>
              <a:rPr lang="en-US" i="1" u="sng" dirty="0"/>
              <a:t>, </a:t>
            </a:r>
            <a:r>
              <a:rPr lang="en-US" i="1" u="sng" dirty="0" err="1"/>
              <a:t>Bayrem</a:t>
            </a:r>
            <a:r>
              <a:rPr lang="en-US" i="1" u="sng" dirty="0"/>
              <a:t>, et al. "A scoping review of privacy and utility metrics in medical synthetic data." NPJ digital medicine 8.1 (2025): 60.</a:t>
            </a:r>
            <a:endParaRPr lang="de-DE" i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7818C8-53A0-4838-9364-CC59EAE21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952" y="2565118"/>
            <a:ext cx="9945342" cy="290743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DAE5AA2-5BF5-47CA-9EDC-AE0ECE2CA47F}"/>
              </a:ext>
            </a:extLst>
          </p:cNvPr>
          <p:cNvSpPr/>
          <p:nvPr/>
        </p:nvSpPr>
        <p:spPr>
          <a:xfrm>
            <a:off x="547852" y="952998"/>
            <a:ext cx="116441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exist</a:t>
            </a:r>
            <a:r>
              <a:rPr lang="de-DE" dirty="0"/>
              <a:t> a </a:t>
            </a:r>
            <a:r>
              <a:rPr lang="de-DE" dirty="0" err="1"/>
              <a:t>false</a:t>
            </a:r>
            <a:r>
              <a:rPr lang="de-DE" dirty="0"/>
              <a:t> sense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security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practitioners</a:t>
            </a:r>
            <a:r>
              <a:rPr lang="de-DE" dirty="0"/>
              <a:t> </a:t>
            </a:r>
            <a:r>
              <a:rPr lang="de-DE" dirty="0" err="1"/>
              <a:t>may</a:t>
            </a:r>
            <a:r>
              <a:rPr lang="de-DE" dirty="0"/>
              <a:t> </a:t>
            </a:r>
            <a:r>
              <a:rPr lang="de-DE" dirty="0" err="1"/>
              <a:t>inadvertently</a:t>
            </a:r>
            <a:r>
              <a:rPr lang="de-DE" dirty="0"/>
              <a:t> </a:t>
            </a:r>
            <a:r>
              <a:rPr lang="de-DE" dirty="0" err="1"/>
              <a:t>assume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synthetic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generating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privacy</a:t>
            </a:r>
            <a:r>
              <a:rPr lang="de-DE" dirty="0"/>
              <a:t> </a:t>
            </a:r>
            <a:r>
              <a:rPr lang="de-DE" dirty="0" err="1"/>
              <a:t>preserving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default</a:t>
            </a:r>
            <a:r>
              <a:rPr lang="de-DE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The review </a:t>
            </a:r>
            <a:r>
              <a:rPr lang="de-DE" dirty="0" err="1"/>
              <a:t>found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en-US" dirty="0"/>
              <a:t>privacy aspect of synthetic data for the purpose of preserving privacy do not evaluate the residual privacy risk. 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5823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A304-CDDA-4426-B065-653336B9E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61783" y="0"/>
            <a:ext cx="4917707" cy="776190"/>
          </a:xfrm>
        </p:spPr>
        <p:txBody>
          <a:bodyPr>
            <a:normAutofit/>
          </a:bodyPr>
          <a:lstStyle/>
          <a:p>
            <a:r>
              <a:rPr lang="de-DE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 DART </a:t>
            </a:r>
            <a:r>
              <a:rPr lang="de-DE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focuses</a:t>
            </a:r>
            <a:endParaRPr lang="de-DE" sz="2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74B9A-5A64-4EBD-B9B2-3C826FD6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942" y="435171"/>
            <a:ext cx="2097858" cy="52213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C4A14-A5C7-48D1-B712-CD7ABB2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9</a:t>
            </a:fld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6C4076-87B5-4FC3-A54C-82273280AF67}"/>
              </a:ext>
            </a:extLst>
          </p:cNvPr>
          <p:cNvSpPr/>
          <p:nvPr/>
        </p:nvSpPr>
        <p:spPr>
          <a:xfrm>
            <a:off x="838200" y="940523"/>
            <a:ext cx="10110952" cy="5345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de-DE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Broad Utility</a:t>
            </a:r>
            <a:r>
              <a:rPr lang="de-DE" dirty="0"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de-DE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PrEP-DART aims to be a </a:t>
            </a:r>
            <a:r>
              <a:rPr lang="en-US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scalable data analysis pipeline</a:t>
            </a: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 that automates data cleaning, integration, and reporting of </a:t>
            </a:r>
            <a:r>
              <a:rPr lang="en-US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public health indicators but the goal is not considered as “Broad Utility”</a:t>
            </a: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de-DE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Since it maps ECDC-defined indicators and follows an </a:t>
            </a:r>
            <a:r>
              <a:rPr lang="en-US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entity-relationship model</a:t>
            </a: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, it prioritizes </a:t>
            </a:r>
            <a:r>
              <a:rPr lang="en-US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statistical accuracy and fidelity</a:t>
            </a: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 in public health analytics.</a:t>
            </a:r>
            <a:endParaRPr lang="de-DE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de-DE" b="1" dirty="0">
                <a:solidFill>
                  <a:schemeClr val="accent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Narrow Utility</a:t>
            </a:r>
            <a:r>
              <a:rPr lang="de-DE" dirty="0">
                <a:solidFill>
                  <a:schemeClr val="accent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de-DE" dirty="0">
              <a:solidFill>
                <a:schemeClr val="accent2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The tool is specifically designed for </a:t>
            </a:r>
            <a:r>
              <a:rPr lang="en-US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monitoring HIV-PrEP indicators</a:t>
            </a: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, which means it has </a:t>
            </a:r>
            <a:r>
              <a:rPr lang="en-US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narrow utility</a:t>
            </a: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 in the sense that its synthetic data is tailored for a </a:t>
            </a:r>
            <a:r>
              <a:rPr lang="en-US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specific task</a:t>
            </a: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de-DE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de-DE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3.      Fairness</a:t>
            </a:r>
            <a:r>
              <a:rPr lang="de-DE" dirty="0"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de-DE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The proposal does not explicitly mention </a:t>
            </a:r>
            <a:r>
              <a:rPr lang="en-US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bias correction or fairness evaluation</a:t>
            </a: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, but given that public health datasets often suffer from demographic biases, fairness considerations would be essential.</a:t>
            </a:r>
            <a:endParaRPr lang="de-DE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de-DE" b="1" dirty="0">
                <a:solidFill>
                  <a:schemeClr val="accent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4.      Privacy</a:t>
            </a:r>
            <a:r>
              <a:rPr lang="de-DE" dirty="0">
                <a:solidFill>
                  <a:schemeClr val="accent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de-DE" dirty="0">
              <a:solidFill>
                <a:schemeClr val="accent2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The PrEP-DART pipeline prioritizes </a:t>
            </a:r>
            <a:r>
              <a:rPr lang="en-US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privacy-preserving techniques</a:t>
            </a: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, including </a:t>
            </a:r>
            <a:r>
              <a:rPr lang="en-US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anonymization, k-anonymity, and synthetic data generation</a:t>
            </a: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de-DE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781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A304-CDDA-4426-B065-653336B9E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23935" y="261433"/>
            <a:ext cx="4917707" cy="77619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de-DE" sz="2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74B9A-5A64-4EBD-B9B2-3C826FD6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942" y="435171"/>
            <a:ext cx="2097858" cy="52213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C4A14-A5C7-48D1-B712-CD7ABB2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10</a:t>
            </a:fld>
            <a:endParaRPr lang="de-D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839E81-5C1B-4D20-8C53-13B72C150ACC}"/>
              </a:ext>
            </a:extLst>
          </p:cNvPr>
          <p:cNvSpPr txBox="1"/>
          <p:nvPr/>
        </p:nvSpPr>
        <p:spPr>
          <a:xfrm>
            <a:off x="777949" y="1252742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en-US" sz="2000" b="1" dirty="0"/>
              <a:t>Traditional methods like k-Anonymity are insufficient against modern re-identification of health data”</a:t>
            </a:r>
            <a:endParaRPr lang="de-DE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DA1C18-1091-43A7-9FEB-2FF69030576B}"/>
              </a:ext>
            </a:extLst>
          </p:cNvPr>
          <p:cNvSpPr txBox="1"/>
          <p:nvPr/>
        </p:nvSpPr>
        <p:spPr>
          <a:xfrm>
            <a:off x="948070" y="2563842"/>
            <a:ext cx="59985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Synthetic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generation</a:t>
            </a:r>
            <a:r>
              <a:rPr lang="de-DE" dirty="0"/>
              <a:t>  </a:t>
            </a:r>
            <a:r>
              <a:rPr lang="de-DE" dirty="0" err="1"/>
              <a:t>itself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form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anonymization</a:t>
            </a:r>
            <a:r>
              <a:rPr lang="de-DE" dirty="0"/>
              <a:t> </a:t>
            </a:r>
            <a:r>
              <a:rPr lang="de-DE" dirty="0" err="1"/>
              <a:t>technique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Why</a:t>
            </a:r>
            <a:r>
              <a:rPr lang="de-DE" dirty="0"/>
              <a:t> do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anonymization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anonymized</a:t>
            </a:r>
            <a:r>
              <a:rPr lang="de-DE" dirty="0"/>
              <a:t> ? </a:t>
            </a:r>
            <a:br>
              <a:rPr lang="de-DE" dirty="0"/>
            </a:br>
            <a:br>
              <a:rPr lang="de-DE" i="1" dirty="0"/>
            </a:br>
            <a:r>
              <a:rPr lang="de-DE" b="1" i="1" dirty="0">
                <a:solidFill>
                  <a:schemeClr val="accent1"/>
                </a:solidFill>
              </a:rPr>
              <a:t>General </a:t>
            </a:r>
            <a:r>
              <a:rPr lang="de-DE" b="1" i="1" dirty="0" err="1">
                <a:solidFill>
                  <a:schemeClr val="accent1"/>
                </a:solidFill>
              </a:rPr>
              <a:t>purpose</a:t>
            </a:r>
            <a:r>
              <a:rPr lang="de-DE" b="1" i="1" dirty="0">
                <a:solidFill>
                  <a:schemeClr val="accent1"/>
                </a:solidFill>
              </a:rPr>
              <a:t> </a:t>
            </a:r>
            <a:r>
              <a:rPr lang="de-DE" b="1" i="1" dirty="0" err="1">
                <a:solidFill>
                  <a:schemeClr val="accent1"/>
                </a:solidFill>
              </a:rPr>
              <a:t>anonymization</a:t>
            </a:r>
            <a:r>
              <a:rPr lang="de-DE" b="1" i="1" dirty="0">
                <a:solidFill>
                  <a:schemeClr val="accent1"/>
                </a:solidFill>
              </a:rPr>
              <a:t> </a:t>
            </a:r>
            <a:r>
              <a:rPr lang="de-DE" b="1" i="1" dirty="0" err="1">
                <a:solidFill>
                  <a:schemeClr val="accent1"/>
                </a:solidFill>
              </a:rPr>
              <a:t>algorithms</a:t>
            </a:r>
            <a:r>
              <a:rPr lang="de-DE" b="1" i="1" dirty="0">
                <a:solidFill>
                  <a:schemeClr val="accent1"/>
                </a:solidFill>
              </a:rPr>
              <a:t> </a:t>
            </a:r>
            <a:r>
              <a:rPr lang="de-DE" b="1" i="1" dirty="0" err="1">
                <a:solidFill>
                  <a:schemeClr val="accent1"/>
                </a:solidFill>
              </a:rPr>
              <a:t>may</a:t>
            </a:r>
            <a:r>
              <a:rPr lang="de-DE" b="1" i="1" dirty="0">
                <a:solidFill>
                  <a:schemeClr val="accent1"/>
                </a:solidFill>
              </a:rPr>
              <a:t> not </a:t>
            </a:r>
            <a:r>
              <a:rPr lang="de-DE" b="1" i="1" dirty="0" err="1">
                <a:solidFill>
                  <a:schemeClr val="accent1"/>
                </a:solidFill>
              </a:rPr>
              <a:t>be</a:t>
            </a:r>
            <a:r>
              <a:rPr lang="de-DE" b="1" i="1" dirty="0">
                <a:solidFill>
                  <a:schemeClr val="accent1"/>
                </a:solidFill>
              </a:rPr>
              <a:t> </a:t>
            </a:r>
            <a:r>
              <a:rPr lang="de-DE" b="1" i="1" dirty="0" err="1">
                <a:solidFill>
                  <a:schemeClr val="accent1"/>
                </a:solidFill>
              </a:rPr>
              <a:t>optimized</a:t>
            </a:r>
            <a:r>
              <a:rPr lang="de-DE" b="1" i="1" dirty="0">
                <a:solidFill>
                  <a:schemeClr val="accent1"/>
                </a:solidFill>
              </a:rPr>
              <a:t> </a:t>
            </a:r>
            <a:r>
              <a:rPr lang="de-DE" b="1" i="1" dirty="0" err="1">
                <a:solidFill>
                  <a:schemeClr val="accent1"/>
                </a:solidFill>
              </a:rPr>
              <a:t>for</a:t>
            </a:r>
            <a:r>
              <a:rPr lang="de-DE" b="1" i="1" dirty="0">
                <a:solidFill>
                  <a:schemeClr val="accent1"/>
                </a:solidFill>
              </a:rPr>
              <a:t> </a:t>
            </a:r>
            <a:r>
              <a:rPr lang="de-DE" b="1" i="1" dirty="0" err="1">
                <a:solidFill>
                  <a:schemeClr val="accent1"/>
                </a:solidFill>
              </a:rPr>
              <a:t>the</a:t>
            </a:r>
            <a:r>
              <a:rPr lang="de-DE" b="1" i="1" dirty="0">
                <a:solidFill>
                  <a:schemeClr val="accent1"/>
                </a:solidFill>
              </a:rPr>
              <a:t> HIR DART </a:t>
            </a:r>
            <a:r>
              <a:rPr lang="de-DE" b="1" i="1" dirty="0" err="1">
                <a:solidFill>
                  <a:schemeClr val="accent1"/>
                </a:solidFill>
              </a:rPr>
              <a:t>pipeline</a:t>
            </a:r>
            <a:r>
              <a:rPr lang="de-DE" b="1" i="1" dirty="0">
                <a:solidFill>
                  <a:schemeClr val="accent1"/>
                </a:solidFill>
              </a:rPr>
              <a:t>. The </a:t>
            </a:r>
            <a:r>
              <a:rPr lang="de-DE" b="1" i="1" dirty="0" err="1">
                <a:solidFill>
                  <a:schemeClr val="accent1"/>
                </a:solidFill>
              </a:rPr>
              <a:t>goal</a:t>
            </a:r>
            <a:r>
              <a:rPr lang="de-DE" b="1" i="1" dirty="0">
                <a:solidFill>
                  <a:schemeClr val="accent1"/>
                </a:solidFill>
              </a:rPr>
              <a:t> </a:t>
            </a:r>
            <a:r>
              <a:rPr lang="de-DE" b="1" i="1" dirty="0" err="1">
                <a:solidFill>
                  <a:schemeClr val="accent1"/>
                </a:solidFill>
              </a:rPr>
              <a:t>is</a:t>
            </a:r>
            <a:r>
              <a:rPr lang="de-DE" b="1" i="1" dirty="0">
                <a:solidFill>
                  <a:schemeClr val="accent1"/>
                </a:solidFill>
              </a:rPr>
              <a:t> </a:t>
            </a:r>
            <a:r>
              <a:rPr lang="de-DE" b="1" i="1" dirty="0" err="1">
                <a:solidFill>
                  <a:schemeClr val="accent1"/>
                </a:solidFill>
              </a:rPr>
              <a:t>to</a:t>
            </a:r>
            <a:r>
              <a:rPr lang="de-DE" b="1" i="1" dirty="0">
                <a:solidFill>
                  <a:schemeClr val="accent1"/>
                </a:solidFill>
              </a:rPr>
              <a:t> </a:t>
            </a:r>
            <a:r>
              <a:rPr lang="de-DE" b="1" i="1" dirty="0" err="1">
                <a:solidFill>
                  <a:schemeClr val="accent1"/>
                </a:solidFill>
              </a:rPr>
              <a:t>investigate</a:t>
            </a:r>
            <a:r>
              <a:rPr lang="de-DE" b="1" i="1" dirty="0">
                <a:solidFill>
                  <a:schemeClr val="accent1"/>
                </a:solidFill>
              </a:rPr>
              <a:t> </a:t>
            </a:r>
            <a:r>
              <a:rPr lang="de-DE" b="1" i="1" dirty="0" err="1">
                <a:solidFill>
                  <a:schemeClr val="accent1"/>
                </a:solidFill>
              </a:rPr>
              <a:t>whether</a:t>
            </a:r>
            <a:r>
              <a:rPr lang="de-DE" b="1" i="1" dirty="0">
                <a:solidFill>
                  <a:schemeClr val="accent1"/>
                </a:solidFill>
              </a:rPr>
              <a:t> </a:t>
            </a:r>
            <a:r>
              <a:rPr lang="de-DE" b="1" i="1" dirty="0" err="1">
                <a:solidFill>
                  <a:schemeClr val="accent1"/>
                </a:solidFill>
              </a:rPr>
              <a:t>better</a:t>
            </a:r>
            <a:r>
              <a:rPr lang="de-DE" b="1" i="1" dirty="0">
                <a:solidFill>
                  <a:schemeClr val="accent1"/>
                </a:solidFill>
              </a:rPr>
              <a:t> </a:t>
            </a:r>
            <a:r>
              <a:rPr lang="de-DE" b="1" i="1" dirty="0" err="1">
                <a:solidFill>
                  <a:schemeClr val="accent1"/>
                </a:solidFill>
              </a:rPr>
              <a:t>anonymization</a:t>
            </a:r>
            <a:r>
              <a:rPr lang="de-DE" b="1" i="1" dirty="0">
                <a:solidFill>
                  <a:schemeClr val="accent1"/>
                </a:solidFill>
              </a:rPr>
              <a:t> </a:t>
            </a:r>
            <a:r>
              <a:rPr lang="de-DE" b="1" i="1" dirty="0" err="1">
                <a:solidFill>
                  <a:schemeClr val="accent1"/>
                </a:solidFill>
              </a:rPr>
              <a:t>techniques</a:t>
            </a:r>
            <a:r>
              <a:rPr lang="de-DE" b="1" i="1" dirty="0">
                <a:solidFill>
                  <a:schemeClr val="accent1"/>
                </a:solidFill>
              </a:rPr>
              <a:t> </a:t>
            </a:r>
            <a:r>
              <a:rPr lang="de-DE" b="1" i="1" dirty="0" err="1">
                <a:solidFill>
                  <a:schemeClr val="accent1"/>
                </a:solidFill>
              </a:rPr>
              <a:t>ensures</a:t>
            </a:r>
            <a:r>
              <a:rPr lang="de-DE" b="1" i="1" dirty="0">
                <a:solidFill>
                  <a:schemeClr val="accent1"/>
                </a:solidFill>
              </a:rPr>
              <a:t> </a:t>
            </a:r>
            <a:r>
              <a:rPr lang="de-DE" b="1" i="1" dirty="0" err="1">
                <a:solidFill>
                  <a:schemeClr val="accent1"/>
                </a:solidFill>
              </a:rPr>
              <a:t>better</a:t>
            </a:r>
            <a:r>
              <a:rPr lang="de-DE" b="1" i="1" dirty="0">
                <a:solidFill>
                  <a:schemeClr val="accent1"/>
                </a:solidFill>
              </a:rPr>
              <a:t> </a:t>
            </a:r>
            <a:r>
              <a:rPr lang="de-DE" b="1" i="1" dirty="0" err="1">
                <a:solidFill>
                  <a:schemeClr val="accent1"/>
                </a:solidFill>
              </a:rPr>
              <a:t>results</a:t>
            </a:r>
            <a:r>
              <a:rPr lang="de-DE" b="1" i="1" dirty="0">
                <a:solidFill>
                  <a:schemeClr val="accent1"/>
                </a:solidFill>
              </a:rPr>
              <a:t> and </a:t>
            </a:r>
            <a:r>
              <a:rPr lang="de-DE" b="1" i="1" dirty="0" err="1">
                <a:solidFill>
                  <a:schemeClr val="accent1"/>
                </a:solidFill>
              </a:rPr>
              <a:t>usability</a:t>
            </a:r>
            <a:br>
              <a:rPr lang="de-DE" dirty="0"/>
            </a:br>
            <a:endParaRPr lang="de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74B159A-F3C4-4AC1-87F6-AA998482C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5014" y="2702574"/>
            <a:ext cx="2861856" cy="286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93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A304-CDDA-4426-B065-653336B9E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60523" y="181115"/>
            <a:ext cx="8499050" cy="77619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Optimizing anonymization </a:t>
            </a:r>
            <a:endParaRPr lang="de-DE" sz="2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74B9A-5A64-4EBD-B9B2-3C826FD6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942" y="435171"/>
            <a:ext cx="2097858" cy="52213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C4A14-A5C7-48D1-B712-CD7ABB2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11</a:t>
            </a:fld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F2A065-2F9E-4C13-BA29-A505573CB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27" y="957305"/>
            <a:ext cx="11247474" cy="531590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2AB06EB-7332-4ADF-B1D9-0CD52DC8561A}"/>
              </a:ext>
            </a:extLst>
          </p:cNvPr>
          <p:cNvSpPr txBox="1"/>
          <p:nvPr/>
        </p:nvSpPr>
        <p:spPr>
          <a:xfrm>
            <a:off x="3474497" y="6307553"/>
            <a:ext cx="5425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5: Benchmarking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anonymization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endParaRPr lang="de-DE" sz="1200" dirty="0">
              <a:solidFill>
                <a:schemeClr val="bg2">
                  <a:lumMod val="9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492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A304-CDDA-4426-B065-653336B9E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08143"/>
            <a:ext cx="4917707" cy="77619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Expectations from Supervisors </a:t>
            </a:r>
            <a:endParaRPr lang="de-DE" sz="2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74B9A-5A64-4EBD-B9B2-3C826FD6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942" y="435171"/>
            <a:ext cx="2097858" cy="52213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C4A14-A5C7-48D1-B712-CD7ABB2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12</a:t>
            </a:fld>
            <a:endParaRPr lang="de-D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839E81-5C1B-4D20-8C53-13B72C150ACC}"/>
              </a:ext>
            </a:extLst>
          </p:cNvPr>
          <p:cNvSpPr txBox="1"/>
          <p:nvPr/>
        </p:nvSpPr>
        <p:spPr>
          <a:xfrm>
            <a:off x="982578" y="1316538"/>
            <a:ext cx="105156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Dr. Daniel Schmidt</a:t>
            </a:r>
            <a:br>
              <a:rPr lang="en-US" dirty="0"/>
            </a:b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fully functional pipeline (PrEP-DART) for automating indicator computation.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on methodology design and validation process.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in interpreting key variables for public health application and how these variable interact with each other (Data definition).</a:t>
            </a:r>
          </a:p>
          <a:p>
            <a:endParaRPr lang="de-DE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Thilo Muth</a:t>
            </a: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Expertise in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optimising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compliance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discuss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aspects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PrEP-DART.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Konstas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Voulgaris 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support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python-based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Support and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5461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A304-CDDA-4426-B065-653336B9E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42283" y="308143"/>
            <a:ext cx="8499050" cy="77619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 Next Steps</a:t>
            </a:r>
            <a:endParaRPr lang="de-DE" sz="2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74B9A-5A64-4EBD-B9B2-3C826FD6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942" y="435171"/>
            <a:ext cx="2097858" cy="52213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C4A14-A5C7-48D1-B712-CD7ABB2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13</a:t>
            </a:fld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C4AA16-8FAB-4713-8E1F-871F04F98C9A}"/>
              </a:ext>
            </a:extLst>
          </p:cNvPr>
          <p:cNvSpPr txBox="1"/>
          <p:nvPr/>
        </p:nvSpPr>
        <p:spPr>
          <a:xfrm>
            <a:off x="710517" y="1582340"/>
            <a:ext cx="591856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prEP DART aims to be a scalable blueprint for data validation and automate data reporting by generating synthetic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 map the ECDC-defined PrEP indicators to the Health Data Lab dataset structure for computational calculation </a:t>
            </a:r>
          </a:p>
          <a:p>
            <a:br>
              <a:rPr lang="de-DE" dirty="0"/>
            </a:br>
            <a:r>
              <a:rPr lang="de-DE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</a:t>
            </a:r>
            <a:r>
              <a:rPr lang="de-DE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endParaRPr lang="de-DE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pipeline architecture. </a:t>
            </a:r>
          </a:p>
          <a:p>
            <a:pPr marL="342900" indent="-342900">
              <a:buAutoNum type="arabicParenBoth"/>
            </a:pPr>
            <a:r>
              <a:rPr lang="en-US" dirty="0"/>
              <a:t>Begin indicator mapping and initial tests with mock datasets. </a:t>
            </a: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Prepare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final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br>
              <a:rPr lang="de-DE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18538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A304-CDDA-4426-B065-653336B9E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29245" y="569210"/>
            <a:ext cx="8499050" cy="77619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synthetic data</a:t>
            </a:r>
            <a:endParaRPr lang="de-DE" sz="2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74B9A-5A64-4EBD-B9B2-3C826FD6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942" y="435171"/>
            <a:ext cx="2097858" cy="52213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C4A14-A5C7-48D1-B712-CD7ABB2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FA2D-0416-4DA7-8676-EED4B659BD9A}" type="slidenum">
              <a:rPr lang="de-DE" smtClean="0"/>
              <a:t>14</a:t>
            </a:fld>
            <a:endParaRPr lang="de-DE"/>
          </a:p>
        </p:txBody>
      </p:sp>
      <p:pic>
        <p:nvPicPr>
          <p:cNvPr id="1026" name="Grafik 1" descr="image002">
            <a:extLst>
              <a:ext uri="{FF2B5EF4-FFF2-40B4-BE49-F238E27FC236}">
                <a16:creationId xmlns:a16="http://schemas.microsoft.com/office/drawing/2014/main" id="{774994DE-588E-4800-8CBD-E72168B35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924" y="1814512"/>
            <a:ext cx="7055953" cy="396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1411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1112</Words>
  <Application>Microsoft Office PowerPoint</Application>
  <PresentationFormat>Widescreen</PresentationFormat>
  <Paragraphs>107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Times New Roman</vt:lpstr>
      <vt:lpstr>Office Theme</vt:lpstr>
      <vt:lpstr>PrEP Data Analysis and Reporting Tool (PrEP DART):  A Privacy-Preserving Data Pipeline Incorporating Synthetic data for Public Health Analytics using Health Data Lab Frameworks</vt:lpstr>
      <vt:lpstr>HIV PrEP Monitoring</vt:lpstr>
      <vt:lpstr>Methodology: Development of PrEP DART Pipeline</vt:lpstr>
      <vt:lpstr>Methodology: PrEP DART Pipeline Architecture</vt:lpstr>
      <vt:lpstr>Methodology: Expected Results and Deliverables</vt:lpstr>
      <vt:lpstr>Literature Review</vt:lpstr>
      <vt:lpstr>Literature Review</vt:lpstr>
      <vt:lpstr>Literature Review</vt:lpstr>
      <vt:lpstr>PrEP DART focuses</vt:lpstr>
      <vt:lpstr>Conclusion</vt:lpstr>
      <vt:lpstr>Methodology: Optimizing anonymization </vt:lpstr>
      <vt:lpstr>Expectations from Supervisors </vt:lpstr>
      <vt:lpstr>Conclusion: Next Steps</vt:lpstr>
      <vt:lpstr>Introduction to synthetic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 Data Analysis and Reporting Tool (PrEP DART):  A Data Pipeline Developed on Health Data Lab Frameworks</dc:title>
  <dc:creator>Thothathri, Gokul</dc:creator>
  <cp:lastModifiedBy>Thothathri, Gokul</cp:lastModifiedBy>
  <cp:revision>52</cp:revision>
  <dcterms:created xsi:type="dcterms:W3CDTF">2025-01-23T16:26:04Z</dcterms:created>
  <dcterms:modified xsi:type="dcterms:W3CDTF">2025-02-18T09:37:53Z</dcterms:modified>
</cp:coreProperties>
</file>